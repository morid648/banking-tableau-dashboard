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members of the Board and Executive Leadership. Today we present the strategic business case for Mitron Bank's credit card market entry. Unlike standard consultancy pitches, this deck is built upon mathematical reconciliation of 864,000 real customer transactions, uncovering ₹16.88 Cr in projected annual revenue and resolving critical data defects.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establishes our baseline metrics. Mitron Bank customers spend an aggregate ₹88.48 Million each month against an income capacity of ₹206.63 Million. This gives an overall income utilization rate of 42.82%, with credit cards already claiming 40.74% of transactions. Key spend engines are Bills (₹104.9M) and Groceries (₹87.2M).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value of an advanced BI engagement is catching upstream errors before they corrupt executive strategy. We identified two major defects: first, a flawed segmentation formula in the Excel spec that would have inflated Upper Class customers by 22 times; second, a mislabeled column that conflated 6-month cumulative spend with monthly average spend.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slice by demographic vectors, income utilization is highest in Mumbai at 51.43% and Delhi NCR at 48.03%. Professionally, Salaried IT Employees lead with 51.04% utilization, followed by Freelancers at 45.80%. This dictates where our initial go-to-market acquisition dollars should be deployed.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the utilization cliff on Slide 5. While lower and middle classes spend ~43% of their income, upper-class spenders drop to 29.63%. This is not disinterest; it is untapped liquidity. With ₹2.84M in unallocated monthly income across this tier, our luxury card tier can easily capture market share through travel and prestige perks.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highlights our Power BI data architecture, built on the Ralph Kimball star schema standard. Dim_customers and Dates filter fact_spends in a single direction. This guarantees lightning-fast VertiPaq engine compression and zero double-counting fan-out errors.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launching a generic card, we propose a targeted 3-tier card lineup: The Elevate card addresses our tech and utility volume drivers; the Family Rewards card satisfies the grocery and fuel needs of the mid-career segment; and the Privé Elite captures affluent international and travel spend.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financial projections indicate that capturing 2,500 active accounts with ₹25k average spend yields ₹16.88 Crore in Year 1 revenue. 78% is driven by merchant interchange fees, with membership fees contributing ₹3.75 Cr. The unit economics are highly accretive.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operationalize these insights, we recommend a 4-month phased rollout: Product approval in Month 1, Core banking IT integrations in Months 2 and 3, Power BI enterprise model deployment in Month 3, and initial pilot launch in Month 4 targeting pre-approved IT accounts in Mumbai and Delhi NCR. We request board sanction to initiate Phase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10728655" cy="4663440"/>
          </a:xfrm>
          <a:prstGeom prst="roundRect">
            <a:avLst/>
          </a:prstGeom>
          <a:solidFill>
            <a:srgbClr val="0E1424"/>
          </a:solidFill>
          <a:ln w="1905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63040"/>
            <a:ext cx="4114800" cy="365760"/>
          </a:xfrm>
          <a:prstGeom prst="rect">
            <a:avLst/>
          </a:prstGeom>
          <a:noFill/>
        </p:spPr>
        <p:txBody>
          <a:bodyPr wrap="none">
            <a:spAutoFit/>
          </a:bodyPr>
          <a:lstStyle/>
          <a:p>
            <a:pPr>
              <a:defRPr sz="1100" b="1">
                <a:solidFill>
                  <a:srgbClr val="F59E0B"/>
                </a:solidFill>
                <a:latin typeface="Consolas"/>
              </a:defRPr>
            </a:pPr>
            <a:r>
              <a:t>★ CXO EXECUTIVE BOARD STRATEGY</a:t>
            </a:r>
          </a:p>
        </p:txBody>
      </p:sp>
      <p:sp>
        <p:nvSpPr>
          <p:cNvPr id="5" name="TextBox 4"/>
          <p:cNvSpPr txBox="1"/>
          <p:nvPr/>
        </p:nvSpPr>
        <p:spPr>
          <a:xfrm>
            <a:off x="1097280" y="1920240"/>
            <a:ext cx="9601200" cy="1280160"/>
          </a:xfrm>
          <a:prstGeom prst="rect">
            <a:avLst/>
          </a:prstGeom>
          <a:noFill/>
        </p:spPr>
        <p:txBody>
          <a:bodyPr wrap="square">
            <a:spAutoFit/>
          </a:bodyPr>
          <a:lstStyle/>
          <a:p>
            <a:pPr>
              <a:defRPr sz="3600" b="1">
                <a:solidFill>
                  <a:srgbClr val="F8FAFC"/>
                </a:solidFill>
                <a:latin typeface="Trebuchet MS"/>
              </a:defRPr>
            </a:pPr>
            <a:r>
              <a:t>Mitron Bank Credit Card Launch</a:t>
            </a:r>
          </a:p>
          <a:p>
            <a:pPr>
              <a:spcBef>
                <a:spcPts val="800"/>
              </a:spcBef>
              <a:defRPr sz="1600">
                <a:solidFill>
                  <a:srgbClr val="38BDF8"/>
                </a:solidFill>
                <a:latin typeface="Calibri"/>
              </a:defRPr>
            </a:pPr>
            <a:r>
              <a:t>Empirical Portfolio Spend Analysis, Tableau-to-Power BI Migration Audit &amp; Market Entry Strategy</a:t>
            </a:r>
          </a:p>
        </p:txBody>
      </p:sp>
      <p:sp>
        <p:nvSpPr>
          <p:cNvPr id="6" name="Rounded Rectangle 5"/>
          <p:cNvSpPr/>
          <p:nvPr/>
        </p:nvSpPr>
        <p:spPr>
          <a:xfrm>
            <a:off x="1097280" y="3474720"/>
            <a:ext cx="3200400" cy="1828800"/>
          </a:xfrm>
          <a:prstGeom prst="roundRect">
            <a:avLst/>
          </a:prstGeom>
          <a:solidFill>
            <a:srgbClr val="0A0F1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566160"/>
            <a:ext cx="2926080" cy="1645920"/>
          </a:xfrm>
          <a:prstGeom prst="rect">
            <a:avLst/>
          </a:prstGeom>
          <a:noFill/>
        </p:spPr>
        <p:txBody>
          <a:bodyPr wrap="square">
            <a:spAutoFit/>
          </a:bodyPr>
          <a:lstStyle/>
          <a:p>
            <a:pPr>
              <a:defRPr sz="1300" b="1">
                <a:solidFill>
                  <a:srgbClr val="10B981"/>
                </a:solidFill>
                <a:latin typeface="Trebuchet MS"/>
              </a:defRPr>
            </a:pPr>
            <a:r>
              <a:t>Verified Ground Truth</a:t>
            </a:r>
          </a:p>
          <a:p>
            <a:pPr>
              <a:spcBef>
                <a:spcPts val="600"/>
              </a:spcBef>
              <a:defRPr sz="1050">
                <a:solidFill>
                  <a:srgbClr val="94A3B8"/>
                </a:solidFill>
                <a:latin typeface="Calibri"/>
              </a:defRPr>
            </a:pPr>
            <a:r>
              <a:t>Audited 4,000 active customer profiles and 864,000 transaction records across 5 metros, resolving 2 upstream specification defects.</a:t>
            </a:r>
          </a:p>
        </p:txBody>
      </p:sp>
      <p:sp>
        <p:nvSpPr>
          <p:cNvPr id="8" name="Rounded Rectangle 7"/>
          <p:cNvSpPr/>
          <p:nvPr/>
        </p:nvSpPr>
        <p:spPr>
          <a:xfrm>
            <a:off x="4480560" y="3474720"/>
            <a:ext cx="3200400" cy="1828800"/>
          </a:xfrm>
          <a:prstGeom prst="roundRect">
            <a:avLst/>
          </a:prstGeom>
          <a:solidFill>
            <a:srgbClr val="0A0F1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3566160"/>
            <a:ext cx="2926080" cy="1645920"/>
          </a:xfrm>
          <a:prstGeom prst="rect">
            <a:avLst/>
          </a:prstGeom>
          <a:noFill/>
        </p:spPr>
        <p:txBody>
          <a:bodyPr wrap="square">
            <a:spAutoFit/>
          </a:bodyPr>
          <a:lstStyle/>
          <a:p>
            <a:pPr>
              <a:defRPr sz="1300" b="1">
                <a:solidFill>
                  <a:srgbClr val="F59E0B"/>
                </a:solidFill>
                <a:latin typeface="Trebuchet MS"/>
              </a:defRPr>
            </a:pPr>
            <a:r>
              <a:t>Demographic Slicing</a:t>
            </a:r>
          </a:p>
          <a:p>
            <a:pPr>
              <a:spcBef>
                <a:spcPts val="600"/>
              </a:spcBef>
              <a:defRPr sz="1050">
                <a:solidFill>
                  <a:srgbClr val="94A3B8"/>
                </a:solidFill>
                <a:latin typeface="Calibri"/>
              </a:defRPr>
            </a:pPr>
            <a:r>
              <a:t>Identified primary credit adoption engines: Salaried IT professionals (51.04% util) and mid-career family spenders (46.72% util).</a:t>
            </a:r>
          </a:p>
        </p:txBody>
      </p:sp>
      <p:sp>
        <p:nvSpPr>
          <p:cNvPr id="10" name="Rounded Rectangle 9"/>
          <p:cNvSpPr/>
          <p:nvPr/>
        </p:nvSpPr>
        <p:spPr>
          <a:xfrm>
            <a:off x="7863840" y="3474720"/>
            <a:ext cx="3200400" cy="1828800"/>
          </a:xfrm>
          <a:prstGeom prst="roundRect">
            <a:avLst/>
          </a:prstGeom>
          <a:solidFill>
            <a:srgbClr val="0A0F1C"/>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3566160"/>
            <a:ext cx="2926080" cy="1645920"/>
          </a:xfrm>
          <a:prstGeom prst="rect">
            <a:avLst/>
          </a:prstGeom>
          <a:noFill/>
        </p:spPr>
        <p:txBody>
          <a:bodyPr wrap="square">
            <a:spAutoFit/>
          </a:bodyPr>
          <a:lstStyle/>
          <a:p>
            <a:pPr>
              <a:defRPr sz="1300" b="1">
                <a:solidFill>
                  <a:srgbClr val="F43F5E"/>
                </a:solidFill>
                <a:latin typeface="Trebuchet MS"/>
              </a:defRPr>
            </a:pPr>
            <a:r>
              <a:t>Commercial Headroom</a:t>
            </a:r>
          </a:p>
          <a:p>
            <a:pPr>
              <a:spcBef>
                <a:spcPts val="600"/>
              </a:spcBef>
              <a:defRPr sz="1050">
                <a:solidFill>
                  <a:srgbClr val="94A3B8"/>
                </a:solidFill>
                <a:latin typeface="Calibri"/>
              </a:defRPr>
            </a:pPr>
            <a:r>
              <a:t>Unveiled 70.37% unspent liquidity among affluent profiles, yielding a projected ₹ 16.88 Cr Year-1 portfolio revenue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a:spAutoFit/>
          </a:bodyPr>
          <a:lstStyle/>
          <a:p>
            <a:pPr>
              <a:defRPr sz="1000" b="1">
                <a:solidFill>
                  <a:srgbClr val="F59E0B"/>
                </a:solidFill>
                <a:latin typeface="Consolas"/>
              </a:defRPr>
            </a:pPr>
            <a:r>
              <a:t>PORTFOLIO DISCOVERY &amp; BI MIGRATION AUDIT</a:t>
            </a:r>
          </a:p>
        </p:txBody>
      </p:sp>
      <p:sp>
        <p:nvSpPr>
          <p:cNvPr id="4" name="TextBox 3"/>
          <p:cNvSpPr txBox="1"/>
          <p:nvPr/>
        </p:nvSpPr>
        <p:spPr>
          <a:xfrm>
            <a:off x="731520" y="640080"/>
            <a:ext cx="8686800" cy="594360"/>
          </a:xfrm>
          <a:prstGeom prst="rect">
            <a:avLst/>
          </a:prstGeom>
          <a:noFill/>
        </p:spPr>
        <p:txBody>
          <a:bodyPr wrap="square">
            <a:spAutoFit/>
          </a:bodyPr>
          <a:lstStyle/>
          <a:p>
            <a:pPr>
              <a:defRPr sz="2200" b="1">
                <a:solidFill>
                  <a:srgbClr val="F8FAFC"/>
                </a:solidFill>
                <a:latin typeface="Trebuchet MS"/>
              </a:defRPr>
            </a:pPr>
            <a:r>
              <a:t>Headline Ground Truth KPIs &amp; Core Insights</a:t>
            </a:r>
          </a:p>
        </p:txBody>
      </p:sp>
      <p:sp>
        <p:nvSpPr>
          <p:cNvPr id="5" name="TextBox 4"/>
          <p:cNvSpPr txBox="1"/>
          <p:nvPr/>
        </p:nvSpPr>
        <p:spPr>
          <a:xfrm>
            <a:off x="8961120" y="365760"/>
            <a:ext cx="2468880" cy="411480"/>
          </a:xfrm>
          <a:prstGeom prst="rect">
            <a:avLst/>
          </a:prstGeom>
          <a:noFill/>
        </p:spPr>
        <p:txBody>
          <a:bodyPr wrap="none">
            <a:spAutoFit/>
          </a:bodyPr>
          <a:lstStyle/>
          <a:p>
            <a:pPr algn="r">
              <a:defRPr sz="900" b="1">
                <a:solidFill>
                  <a:srgbClr val="38BDF8"/>
                </a:solidFill>
                <a:latin typeface="Consolas"/>
              </a:defRPr>
            </a:pPr>
            <a:r>
              <a:t>MITRON BANK • CXO EXECUTIVE STRATEGY</a:t>
            </a:r>
          </a:p>
        </p:txBody>
      </p:sp>
      <p:sp>
        <p:nvSpPr>
          <p:cNvPr id="6" name="Rounded Rectangle 5"/>
          <p:cNvSpPr/>
          <p:nvPr/>
        </p:nvSpPr>
        <p:spPr>
          <a:xfrm>
            <a:off x="731520" y="1280160"/>
            <a:ext cx="2560320" cy="13716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25880"/>
            <a:ext cx="2286000" cy="1234440"/>
          </a:xfrm>
          <a:prstGeom prst="rect">
            <a:avLst/>
          </a:prstGeom>
          <a:noFill/>
        </p:spPr>
        <p:txBody>
          <a:bodyPr wrap="square">
            <a:spAutoFit/>
          </a:bodyPr>
          <a:lstStyle/>
          <a:p>
            <a:pPr>
              <a:defRPr sz="850" b="1">
                <a:solidFill>
                  <a:srgbClr val="64748B"/>
                </a:solidFill>
                <a:latin typeface="Consolas"/>
              </a:defRPr>
            </a:pPr>
            <a:r>
              <a:t>AVG MONTHLY SPEND</a:t>
            </a:r>
          </a:p>
          <a:p>
            <a:pPr>
              <a:spcBef>
                <a:spcPts val="400"/>
              </a:spcBef>
              <a:defRPr sz="2000" b="1">
                <a:solidFill>
                  <a:srgbClr val="F59E0B"/>
                </a:solidFill>
                <a:latin typeface="Consolas"/>
              </a:defRPr>
            </a:pPr>
            <a:r>
              <a:t>₹ 88.48 M</a:t>
            </a:r>
          </a:p>
          <a:p>
            <a:pPr>
              <a:spcBef>
                <a:spcPts val="400"/>
              </a:spcBef>
              <a:defRPr sz="900">
                <a:solidFill>
                  <a:srgbClr val="94A3B8"/>
                </a:solidFill>
                <a:latin typeface="Calibri"/>
              </a:defRPr>
            </a:pPr>
            <a:r>
              <a:t>✓ Recomputed Ground Truth</a:t>
            </a:r>
          </a:p>
        </p:txBody>
      </p:sp>
      <p:sp>
        <p:nvSpPr>
          <p:cNvPr id="8" name="Rounded Rectangle 7"/>
          <p:cNvSpPr/>
          <p:nvPr/>
        </p:nvSpPr>
        <p:spPr>
          <a:xfrm>
            <a:off x="3456432" y="1280160"/>
            <a:ext cx="2560320" cy="13716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3592" y="1325880"/>
            <a:ext cx="2286000" cy="1234440"/>
          </a:xfrm>
          <a:prstGeom prst="rect">
            <a:avLst/>
          </a:prstGeom>
          <a:noFill/>
        </p:spPr>
        <p:txBody>
          <a:bodyPr wrap="square">
            <a:spAutoFit/>
          </a:bodyPr>
          <a:lstStyle/>
          <a:p>
            <a:pPr>
              <a:defRPr sz="850" b="1">
                <a:solidFill>
                  <a:srgbClr val="64748B"/>
                </a:solidFill>
                <a:latin typeface="Consolas"/>
              </a:defRPr>
            </a:pPr>
            <a:r>
              <a:t>AVG MONTHLY INCOME</a:t>
            </a:r>
          </a:p>
          <a:p>
            <a:pPr>
              <a:spcBef>
                <a:spcPts val="400"/>
              </a:spcBef>
              <a:defRPr sz="2000" b="1">
                <a:solidFill>
                  <a:srgbClr val="F43F5E"/>
                </a:solidFill>
                <a:latin typeface="Consolas"/>
              </a:defRPr>
            </a:pPr>
            <a:r>
              <a:t>₹ 206.63 M</a:t>
            </a:r>
          </a:p>
          <a:p>
            <a:pPr>
              <a:spcBef>
                <a:spcPts val="400"/>
              </a:spcBef>
              <a:defRPr sz="900">
                <a:solidFill>
                  <a:srgbClr val="94A3B8"/>
                </a:solidFill>
                <a:latin typeface="Calibri"/>
              </a:defRPr>
            </a:pPr>
            <a:r>
              <a:t>✓ 4,000 Active Profiles</a:t>
            </a:r>
          </a:p>
        </p:txBody>
      </p:sp>
      <p:sp>
        <p:nvSpPr>
          <p:cNvPr id="10" name="Rounded Rectangle 9"/>
          <p:cNvSpPr/>
          <p:nvPr/>
        </p:nvSpPr>
        <p:spPr>
          <a:xfrm>
            <a:off x="6181344" y="1280160"/>
            <a:ext cx="2560320" cy="13716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1325880"/>
            <a:ext cx="2286000" cy="1234440"/>
          </a:xfrm>
          <a:prstGeom prst="rect">
            <a:avLst/>
          </a:prstGeom>
          <a:noFill/>
        </p:spPr>
        <p:txBody>
          <a:bodyPr wrap="square">
            <a:spAutoFit/>
          </a:bodyPr>
          <a:lstStyle/>
          <a:p>
            <a:pPr>
              <a:defRPr sz="850" b="1">
                <a:solidFill>
                  <a:srgbClr val="64748B"/>
                </a:solidFill>
                <a:latin typeface="Consolas"/>
              </a:defRPr>
            </a:pPr>
            <a:r>
              <a:t>INCOME UTILIZATION</a:t>
            </a:r>
          </a:p>
          <a:p>
            <a:pPr>
              <a:spcBef>
                <a:spcPts val="400"/>
              </a:spcBef>
              <a:defRPr sz="2000" b="1">
                <a:solidFill>
                  <a:srgbClr val="38BDF8"/>
                </a:solidFill>
                <a:latin typeface="Consolas"/>
              </a:defRPr>
            </a:pPr>
            <a:r>
              <a:t>42.82%</a:t>
            </a:r>
          </a:p>
          <a:p>
            <a:pPr>
              <a:spcBef>
                <a:spcPts val="400"/>
              </a:spcBef>
              <a:defRPr sz="900">
                <a:solidFill>
                  <a:srgbClr val="94A3B8"/>
                </a:solidFill>
                <a:latin typeface="Calibri"/>
              </a:defRPr>
            </a:pPr>
            <a:r>
              <a:t>✓ Primary Propensity Proxy</a:t>
            </a:r>
          </a:p>
        </p:txBody>
      </p:sp>
      <p:sp>
        <p:nvSpPr>
          <p:cNvPr id="12" name="Rounded Rectangle 11"/>
          <p:cNvSpPr/>
          <p:nvPr/>
        </p:nvSpPr>
        <p:spPr>
          <a:xfrm>
            <a:off x="8906256" y="1280160"/>
            <a:ext cx="2560320" cy="13716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43416" y="1325880"/>
            <a:ext cx="2286000" cy="1234440"/>
          </a:xfrm>
          <a:prstGeom prst="rect">
            <a:avLst/>
          </a:prstGeom>
          <a:noFill/>
        </p:spPr>
        <p:txBody>
          <a:bodyPr wrap="square">
            <a:spAutoFit/>
          </a:bodyPr>
          <a:lstStyle/>
          <a:p>
            <a:pPr>
              <a:defRPr sz="850" b="1">
                <a:solidFill>
                  <a:srgbClr val="64748B"/>
                </a:solidFill>
                <a:latin typeface="Consolas"/>
              </a:defRPr>
            </a:pPr>
            <a:r>
              <a:t>CREDIT CARD SHARE</a:t>
            </a:r>
          </a:p>
          <a:p>
            <a:pPr>
              <a:spcBef>
                <a:spcPts val="400"/>
              </a:spcBef>
              <a:defRPr sz="2000" b="1">
                <a:solidFill>
                  <a:srgbClr val="10B981"/>
                </a:solidFill>
                <a:latin typeface="Consolas"/>
              </a:defRPr>
            </a:pPr>
            <a:r>
              <a:t>40.74%</a:t>
            </a:r>
          </a:p>
          <a:p>
            <a:pPr>
              <a:spcBef>
                <a:spcPts val="400"/>
              </a:spcBef>
              <a:defRPr sz="900">
                <a:solidFill>
                  <a:srgbClr val="94A3B8"/>
                </a:solidFill>
                <a:latin typeface="Calibri"/>
              </a:defRPr>
            </a:pPr>
            <a:r>
              <a:t>✓ Leading Spend Channel</a:t>
            </a:r>
          </a:p>
        </p:txBody>
      </p:sp>
      <p:sp>
        <p:nvSpPr>
          <p:cNvPr id="14" name="Rounded Rectangle 13"/>
          <p:cNvSpPr/>
          <p:nvPr/>
        </p:nvSpPr>
        <p:spPr>
          <a:xfrm>
            <a:off x="731520" y="2834640"/>
            <a:ext cx="5303520" cy="3566160"/>
          </a:xfrm>
          <a:prstGeom prst="roundRect">
            <a:avLst/>
          </a:prstGeom>
          <a:solidFill>
            <a:srgbClr val="0E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26080"/>
            <a:ext cx="4937760" cy="3291840"/>
          </a:xfrm>
          <a:prstGeom prst="rect">
            <a:avLst/>
          </a:prstGeom>
          <a:noFill/>
        </p:spPr>
        <p:txBody>
          <a:bodyPr wrap="square">
            <a:spAutoFit/>
          </a:bodyPr>
          <a:lstStyle/>
          <a:p>
            <a:pPr>
              <a:defRPr sz="1400" b="1">
                <a:solidFill>
                  <a:srgbClr val="F8FAFC"/>
                </a:solidFill>
                <a:latin typeface="Trebuchet MS"/>
              </a:defRPr>
            </a:pPr>
            <a:r>
              <a:t>Strategic Findings Overview</a:t>
            </a:r>
          </a:p>
          <a:p>
            <a:pPr>
              <a:spcBef>
                <a:spcPts val="800"/>
              </a:spcBef>
              <a:defRPr sz="1100" b="1">
                <a:solidFill>
                  <a:srgbClr val="38BDF8"/>
                </a:solidFill>
                <a:latin typeface="Trebuchet MS"/>
              </a:defRPr>
            </a:pPr>
            <a:r>
              <a:t>• Metro IT Powerhouse:</a:t>
            </a:r>
          </a:p>
          <a:p>
            <a:pPr>
              <a:defRPr sz="950">
                <a:solidFill>
                  <a:srgbClr val="94A3B8"/>
                </a:solidFill>
                <a:latin typeface="Calibri"/>
              </a:defRPr>
            </a:pPr>
            <a:r>
              <a:t>Salaried IT Employees in Mumbai (51.4% util) and Delhi NCR (48.0% util) represent the highest credit propensity clusters across all demographic cross-sections.</a:t>
            </a:r>
          </a:p>
          <a:p>
            <a:pPr>
              <a:spcBef>
                <a:spcPts val="800"/>
              </a:spcBef>
              <a:defRPr sz="1100" b="1">
                <a:solidFill>
                  <a:srgbClr val="F59E0B"/>
                </a:solidFill>
                <a:latin typeface="Trebuchet MS"/>
              </a:defRPr>
            </a:pPr>
            <a:r>
              <a:t>• Mid-Career Inverted-U Peak:</a:t>
            </a:r>
          </a:p>
          <a:p>
            <a:pPr>
              <a:defRPr sz="950">
                <a:solidFill>
                  <a:srgbClr val="94A3B8"/>
                </a:solidFill>
                <a:latin typeface="Calibri"/>
              </a:defRPr>
            </a:pPr>
            <a:r>
              <a:t>Customers aged 35–45 peak at 46.72% utilization, managing household grocery, gadget, and recurring utility bills with high repayment discipline.</a:t>
            </a:r>
          </a:p>
          <a:p>
            <a:pPr>
              <a:spcBef>
                <a:spcPts val="800"/>
              </a:spcBef>
              <a:defRPr sz="1100" b="1">
                <a:solidFill>
                  <a:srgbClr val="F43F5E"/>
                </a:solidFill>
                <a:latin typeface="Trebuchet MS"/>
              </a:defRPr>
            </a:pPr>
            <a:r>
              <a:t>• Upper Class Liquidity Headroom:</a:t>
            </a:r>
          </a:p>
          <a:p>
            <a:pPr>
              <a:defRPr sz="950">
                <a:solidFill>
                  <a:srgbClr val="94A3B8"/>
                </a:solidFill>
                <a:latin typeface="Calibri"/>
              </a:defRPr>
            </a:pPr>
            <a:r>
              <a:t>Affluent customers (avg_income ≥ ₹80k) utilize only 29.63% of income, retaining &gt;70% unspent liquidity ideal for premium luxury card programs.</a:t>
            </a:r>
          </a:p>
        </p:txBody>
      </p:sp>
      <p:pic>
        <p:nvPicPr>
          <p:cNvPr id="16" name="Picture 15" descr="05-presentation-executive-summary.png"/>
          <p:cNvPicPr>
            <a:picLocks noChangeAspect="1"/>
          </p:cNvPicPr>
          <p:nvPr/>
        </p:nvPicPr>
        <p:blipFill>
          <a:blip r:embed="rId2"/>
          <a:stretch>
            <a:fillRect/>
          </a:stretch>
        </p:blipFill>
        <p:spPr>
          <a:xfrm>
            <a:off x="6217920" y="2834640"/>
            <a:ext cx="5242255" cy="35661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a:spAutoFit/>
          </a:bodyPr>
          <a:lstStyle/>
          <a:p>
            <a:pPr>
              <a:defRPr sz="1000" b="1">
                <a:solidFill>
                  <a:srgbClr val="F59E0B"/>
                </a:solidFill>
                <a:latin typeface="Consolas"/>
              </a:defRPr>
            </a:pPr>
            <a:r>
              <a:t>QUALITY ASSURANCE &amp; SPECIFICATION AUDIT</a:t>
            </a:r>
          </a:p>
        </p:txBody>
      </p:sp>
      <p:sp>
        <p:nvSpPr>
          <p:cNvPr id="4" name="TextBox 3"/>
          <p:cNvSpPr txBox="1"/>
          <p:nvPr/>
        </p:nvSpPr>
        <p:spPr>
          <a:xfrm>
            <a:off x="731520" y="640080"/>
            <a:ext cx="8686800" cy="594360"/>
          </a:xfrm>
          <a:prstGeom prst="rect">
            <a:avLst/>
          </a:prstGeom>
          <a:noFill/>
        </p:spPr>
        <p:txBody>
          <a:bodyPr wrap="square">
            <a:spAutoFit/>
          </a:bodyPr>
          <a:lstStyle/>
          <a:p>
            <a:pPr>
              <a:defRPr sz="2200" b="1">
                <a:solidFill>
                  <a:srgbClr val="F8FAFC"/>
                </a:solidFill>
                <a:latin typeface="Trebuchet MS"/>
              </a:defRPr>
            </a:pPr>
            <a:r>
              <a:t>Independent Verification &amp; Defect Resolution</a:t>
            </a:r>
          </a:p>
        </p:txBody>
      </p:sp>
      <p:sp>
        <p:nvSpPr>
          <p:cNvPr id="5" name="TextBox 4"/>
          <p:cNvSpPr txBox="1"/>
          <p:nvPr/>
        </p:nvSpPr>
        <p:spPr>
          <a:xfrm>
            <a:off x="8961120" y="365760"/>
            <a:ext cx="2468880" cy="411480"/>
          </a:xfrm>
          <a:prstGeom prst="rect">
            <a:avLst/>
          </a:prstGeom>
          <a:noFill/>
        </p:spPr>
        <p:txBody>
          <a:bodyPr wrap="none">
            <a:spAutoFit/>
          </a:bodyPr>
          <a:lstStyle/>
          <a:p>
            <a:pPr algn="r">
              <a:defRPr sz="900" b="1">
                <a:solidFill>
                  <a:srgbClr val="38BDF8"/>
                </a:solidFill>
                <a:latin typeface="Consolas"/>
              </a:defRPr>
            </a:pPr>
            <a:r>
              <a:t>MITRON BANK • CXO EXECUTIVE STRATEGY</a:t>
            </a:r>
          </a:p>
        </p:txBody>
      </p:sp>
      <p:sp>
        <p:nvSpPr>
          <p:cNvPr id="6" name="Rounded Rectangle 5"/>
          <p:cNvSpPr/>
          <p:nvPr/>
        </p:nvSpPr>
        <p:spPr>
          <a:xfrm>
            <a:off x="731520" y="1280160"/>
            <a:ext cx="5212080" cy="5029200"/>
          </a:xfrm>
          <a:prstGeom prst="roundRect">
            <a:avLst/>
          </a:prstGeom>
          <a:solidFill>
            <a:srgbClr val="0E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4846320" cy="4754880"/>
          </a:xfrm>
          <a:prstGeom prst="rect">
            <a:avLst/>
          </a:prstGeom>
          <a:noFill/>
        </p:spPr>
        <p:txBody>
          <a:bodyPr wrap="square">
            <a:spAutoFit/>
          </a:bodyPr>
          <a:lstStyle/>
          <a:p>
            <a:pPr>
              <a:defRPr sz="1300" b="1">
                <a:solidFill>
                  <a:srgbClr val="F43F5E"/>
                </a:solidFill>
                <a:latin typeface="Trebuchet MS"/>
              </a:defRPr>
            </a:pPr>
            <a:r>
              <a:t>Discrepancy 1: Customer Segmentation Rule Error</a:t>
            </a:r>
          </a:p>
          <a:p>
            <a:pPr>
              <a:spcBef>
                <a:spcPts val="800"/>
              </a:spcBef>
              <a:defRPr sz="900" b="1">
                <a:solidFill>
                  <a:srgbClr val="F43F5E"/>
                </a:solidFill>
                <a:latin typeface="Consolas"/>
              </a:defRPr>
            </a:pPr>
            <a:r>
              <a:t>DEFECT IN REFERENCE EXCEL SPEC FILE:</a:t>
            </a:r>
          </a:p>
          <a:p>
            <a:pPr>
              <a:defRPr sz="950">
                <a:solidFill>
                  <a:srgbClr val="94A3B8"/>
                </a:solidFill>
                <a:latin typeface="Calibri"/>
              </a:defRPr>
            </a:pPr>
            <a:r>
              <a:t>The provided DAX formula sheet defined Upper Class as avg_income &gt; ₹64,000. In reality, this produced 1,082 Upper Class customers (27.05% of the total 4,000 customers).</a:t>
            </a:r>
          </a:p>
          <a:p>
            <a:pPr>
              <a:spcBef>
                <a:spcPts val="1200"/>
              </a:spcBef>
              <a:defRPr sz="900" b="1">
                <a:solidFill>
                  <a:srgbClr val="10B981"/>
                </a:solidFill>
                <a:latin typeface="Consolas"/>
              </a:defRPr>
            </a:pPr>
            <a:r>
              <a:t>✓ GROUND TRUTH RECONCILIATION:</a:t>
            </a:r>
          </a:p>
          <a:p>
            <a:pPr>
              <a:defRPr sz="950">
                <a:solidFill>
                  <a:srgbClr val="F8FAFC"/>
                </a:solidFill>
                <a:latin typeface="Calibri"/>
              </a:defRPr>
            </a:pPr>
            <a:r>
              <a:t>Auditing the shipped dashboard visual proof confirmed that Upper Class contains strictly 49 customers (1.23%). The true threshold is avg_income ≥ ₹80,000!</a:t>
            </a:r>
            <a:br/>
            <a:br/>
            <a:r>
              <a:t>Adopting the spec blindly would have caused a 22x error in marketing segmentation and executive budgeting!</a:t>
            </a:r>
          </a:p>
        </p:txBody>
      </p:sp>
      <p:sp>
        <p:nvSpPr>
          <p:cNvPr id="8" name="Rounded Rectangle 7"/>
          <p:cNvSpPr/>
          <p:nvPr/>
        </p:nvSpPr>
        <p:spPr>
          <a:xfrm>
            <a:off x="6217920" y="1280160"/>
            <a:ext cx="5212080" cy="5029200"/>
          </a:xfrm>
          <a:prstGeom prst="roundRect">
            <a:avLst/>
          </a:prstGeom>
          <a:solidFill>
            <a:srgbClr val="0E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371600"/>
            <a:ext cx="4846320" cy="4754880"/>
          </a:xfrm>
          <a:prstGeom prst="rect">
            <a:avLst/>
          </a:prstGeom>
          <a:noFill/>
        </p:spPr>
        <p:txBody>
          <a:bodyPr wrap="square">
            <a:spAutoFit/>
          </a:bodyPr>
          <a:lstStyle/>
          <a:p>
            <a:pPr>
              <a:defRPr sz="1300" b="1">
                <a:solidFill>
                  <a:srgbClr val="F59E0B"/>
                </a:solidFill>
                <a:latin typeface="Trebuchet MS"/>
              </a:defRPr>
            </a:pPr>
            <a:r>
              <a:t>Discrepancy 2: Detailed View Header Label Mismatch</a:t>
            </a:r>
          </a:p>
          <a:p>
            <a:pPr>
              <a:spcBef>
                <a:spcPts val="800"/>
              </a:spcBef>
              <a:defRPr sz="900" b="1">
                <a:solidFill>
                  <a:srgbClr val="F59E0B"/>
                </a:solidFill>
                <a:latin typeface="Consolas"/>
              </a:defRPr>
            </a:pPr>
            <a:r>
              <a:t>MISLEADING DASHBOARD TABLE HEADER:</a:t>
            </a:r>
          </a:p>
          <a:p>
            <a:pPr>
              <a:defRPr sz="950">
                <a:solidFill>
                  <a:srgbClr val="94A3B8"/>
                </a:solidFill>
                <a:latin typeface="Calibri"/>
              </a:defRPr>
            </a:pPr>
            <a:r>
              <a:t>Detailed customer table in reference material had column header 'Total Spend', yet an ₹86,600 monthly income customer displayed ₹26,370. If this were 6-month spend, income utilization would be an impossible 5.07%.</a:t>
            </a:r>
          </a:p>
          <a:p>
            <a:pPr>
              <a:spcBef>
                <a:spcPts val="1200"/>
              </a:spcBef>
              <a:defRPr sz="900" b="1">
                <a:solidFill>
                  <a:srgbClr val="10B981"/>
                </a:solidFill>
                <a:latin typeface="Consolas"/>
              </a:defRPr>
            </a:pPr>
            <a:r>
              <a:t>✓ MATHEMATICAL VERIFICATION &amp; FIX:</a:t>
            </a:r>
          </a:p>
          <a:p>
            <a:pPr>
              <a:defRPr sz="950">
                <a:solidFill>
                  <a:srgbClr val="F8FAFC"/>
                </a:solidFill>
                <a:latin typeface="Calibri"/>
              </a:defRPr>
            </a:pPr>
            <a:r>
              <a:t>Reverse calculating raw transaction records revealed the customer spent ₹158,222 cumulatively across 6 months. Dividing by 6 yields ₹26,370.33!</a:t>
            </a:r>
            <a:br/>
            <a:br/>
            <a:r>
              <a:t>The figure was monthly average, but the header said 'Total Spend'. Corrected in Power BI model measures to prevent board-level confusion.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a:spAutoFit/>
          </a:bodyPr>
          <a:lstStyle/>
          <a:p>
            <a:pPr>
              <a:defRPr sz="1000" b="1">
                <a:solidFill>
                  <a:srgbClr val="F59E0B"/>
                </a:solidFill>
                <a:latin typeface="Consolas"/>
              </a:defRPr>
            </a:pPr>
            <a:r>
              <a:t>TARGET AUDIENCE PROFILING</a:t>
            </a:r>
          </a:p>
        </p:txBody>
      </p:sp>
      <p:sp>
        <p:nvSpPr>
          <p:cNvPr id="4" name="TextBox 3"/>
          <p:cNvSpPr txBox="1"/>
          <p:nvPr/>
        </p:nvSpPr>
        <p:spPr>
          <a:xfrm>
            <a:off x="731520" y="640080"/>
            <a:ext cx="8686800" cy="594360"/>
          </a:xfrm>
          <a:prstGeom prst="rect">
            <a:avLst/>
          </a:prstGeom>
          <a:noFill/>
        </p:spPr>
        <p:txBody>
          <a:bodyPr wrap="square">
            <a:spAutoFit/>
          </a:bodyPr>
          <a:lstStyle/>
          <a:p>
            <a:pPr>
              <a:defRPr sz="2200" b="1">
                <a:solidFill>
                  <a:srgbClr val="F8FAFC"/>
                </a:solidFill>
                <a:latin typeface="Trebuchet MS"/>
              </a:defRPr>
            </a:pPr>
            <a:r>
              <a:t>Income Utilization % by Metro &amp; Profession</a:t>
            </a:r>
          </a:p>
        </p:txBody>
      </p:sp>
      <p:sp>
        <p:nvSpPr>
          <p:cNvPr id="5" name="TextBox 4"/>
          <p:cNvSpPr txBox="1"/>
          <p:nvPr/>
        </p:nvSpPr>
        <p:spPr>
          <a:xfrm>
            <a:off x="8961120" y="365760"/>
            <a:ext cx="2468880" cy="411480"/>
          </a:xfrm>
          <a:prstGeom prst="rect">
            <a:avLst/>
          </a:prstGeom>
          <a:noFill/>
        </p:spPr>
        <p:txBody>
          <a:bodyPr wrap="none">
            <a:spAutoFit/>
          </a:bodyPr>
          <a:lstStyle/>
          <a:p>
            <a:pPr algn="r">
              <a:defRPr sz="900" b="1">
                <a:solidFill>
                  <a:srgbClr val="38BDF8"/>
                </a:solidFill>
                <a:latin typeface="Consolas"/>
              </a:defRPr>
            </a:pPr>
            <a:r>
              <a:t>MITRON BANK • CXO EXECUTIVE STRATEGY</a:t>
            </a:r>
          </a:p>
        </p:txBody>
      </p:sp>
      <p:sp>
        <p:nvSpPr>
          <p:cNvPr id="6" name="Rounded Rectangle 5"/>
          <p:cNvSpPr/>
          <p:nvPr/>
        </p:nvSpPr>
        <p:spPr>
          <a:xfrm>
            <a:off x="731520" y="1280160"/>
            <a:ext cx="5212080" cy="5029200"/>
          </a:xfrm>
          <a:prstGeom prst="roundRect">
            <a:avLst/>
          </a:prstGeom>
          <a:solidFill>
            <a:srgbClr val="0E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4846320" cy="4754880"/>
          </a:xfrm>
          <a:prstGeom prst="rect">
            <a:avLst/>
          </a:prstGeom>
          <a:noFill/>
        </p:spPr>
        <p:txBody>
          <a:bodyPr wrap="square">
            <a:spAutoFit/>
          </a:bodyPr>
          <a:lstStyle/>
          <a:p>
            <a:pPr>
              <a:defRPr sz="1400" b="1">
                <a:solidFill>
                  <a:srgbClr val="38BDF8"/>
                </a:solidFill>
                <a:latin typeface="Trebuchet MS"/>
              </a:defRPr>
            </a:pPr>
            <a:r>
              <a:t>Metro City Propensity Ranking</a:t>
            </a:r>
          </a:p>
          <a:p>
            <a:pPr>
              <a:spcBef>
                <a:spcPts val="800"/>
              </a:spcBef>
              <a:defRPr sz="1200" b="1">
                <a:solidFill>
                  <a:srgbClr val="F43F5E"/>
                </a:solidFill>
                <a:latin typeface="Trebuchet MS"/>
              </a:defRPr>
            </a:pPr>
            <a:r>
              <a:t>Mumbai: 51.43%</a:t>
            </a:r>
          </a:p>
          <a:p>
            <a:pPr>
              <a:defRPr sz="900">
                <a:solidFill>
                  <a:srgbClr val="94A3B8"/>
                </a:solidFill>
                <a:latin typeface="Calibri"/>
              </a:defRPr>
            </a:pPr>
            <a:r>
              <a:t>Tier 1 Priority • 1,078 Customers • Highest spend propensity</a:t>
            </a:r>
          </a:p>
          <a:p>
            <a:pPr>
              <a:spcBef>
                <a:spcPts val="800"/>
              </a:spcBef>
              <a:defRPr sz="1200" b="1">
                <a:solidFill>
                  <a:srgbClr val="F59E0B"/>
                </a:solidFill>
                <a:latin typeface="Trebuchet MS"/>
              </a:defRPr>
            </a:pPr>
            <a:r>
              <a:t>Delhi NCR: 48.03%</a:t>
            </a:r>
          </a:p>
          <a:p>
            <a:pPr>
              <a:defRPr sz="900">
                <a:solidFill>
                  <a:srgbClr val="94A3B8"/>
                </a:solidFill>
                <a:latin typeface="Calibri"/>
              </a:defRPr>
            </a:pPr>
            <a:r>
              <a:t>Tier 1 Priority • High electronics &amp; utility adoption</a:t>
            </a:r>
          </a:p>
          <a:p>
            <a:pPr>
              <a:spcBef>
                <a:spcPts val="800"/>
              </a:spcBef>
              <a:defRPr sz="1200" b="1">
                <a:solidFill>
                  <a:srgbClr val="38BDF8"/>
                </a:solidFill>
                <a:latin typeface="Trebuchet MS"/>
              </a:defRPr>
            </a:pPr>
            <a:r>
              <a:t>Bengaluru: 43.46%</a:t>
            </a:r>
          </a:p>
          <a:p>
            <a:pPr>
              <a:defRPr sz="900">
                <a:solidFill>
                  <a:srgbClr val="94A3B8"/>
                </a:solidFill>
                <a:latin typeface="Calibri"/>
              </a:defRPr>
            </a:pPr>
            <a:r>
              <a:t>Tier 2 Priority • Heavy tech gadget &amp; dining velocity</a:t>
            </a:r>
          </a:p>
          <a:p>
            <a:pPr>
              <a:spcBef>
                <a:spcPts val="800"/>
              </a:spcBef>
              <a:defRPr sz="1200" b="1">
                <a:solidFill>
                  <a:srgbClr val="10B981"/>
                </a:solidFill>
                <a:latin typeface="Trebuchet MS"/>
              </a:defRPr>
            </a:pPr>
            <a:r>
              <a:t>Hyderabad: 36.25%</a:t>
            </a:r>
          </a:p>
          <a:p>
            <a:pPr>
              <a:defRPr sz="900">
                <a:solidFill>
                  <a:srgbClr val="94A3B8"/>
                </a:solidFill>
                <a:latin typeface="Calibri"/>
              </a:defRPr>
            </a:pPr>
            <a:r>
              <a:t>Tier 3 Priority • Mitron Bank home turf • High upside</a:t>
            </a:r>
          </a:p>
          <a:p>
            <a:pPr>
              <a:spcBef>
                <a:spcPts val="800"/>
              </a:spcBef>
              <a:defRPr sz="1200" b="1">
                <a:solidFill>
                  <a:srgbClr val="A855F7"/>
                </a:solidFill>
                <a:latin typeface="Trebuchet MS"/>
              </a:defRPr>
            </a:pPr>
            <a:r>
              <a:t>Chennai: 31.10%</a:t>
            </a:r>
          </a:p>
          <a:p>
            <a:pPr>
              <a:defRPr sz="900">
                <a:solidFill>
                  <a:srgbClr val="94A3B8"/>
                </a:solidFill>
                <a:latin typeface="Calibri"/>
              </a:defRPr>
            </a:pPr>
            <a:r>
              <a:t>Tier 4 Priority • Conservative utilization • Value focus</a:t>
            </a:r>
          </a:p>
        </p:txBody>
      </p:sp>
      <p:sp>
        <p:nvSpPr>
          <p:cNvPr id="8" name="Rounded Rectangle 7"/>
          <p:cNvSpPr/>
          <p:nvPr/>
        </p:nvSpPr>
        <p:spPr>
          <a:xfrm>
            <a:off x="6217920" y="1280160"/>
            <a:ext cx="5212080" cy="5029200"/>
          </a:xfrm>
          <a:prstGeom prst="roundRect">
            <a:avLst/>
          </a:prstGeom>
          <a:solidFill>
            <a:srgbClr val="0E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371600"/>
            <a:ext cx="4846320" cy="4754880"/>
          </a:xfrm>
          <a:prstGeom prst="rect">
            <a:avLst/>
          </a:prstGeom>
          <a:noFill/>
        </p:spPr>
        <p:txBody>
          <a:bodyPr wrap="square">
            <a:spAutoFit/>
          </a:bodyPr>
          <a:lstStyle/>
          <a:p>
            <a:pPr>
              <a:defRPr sz="1400" b="1">
                <a:solidFill>
                  <a:srgbClr val="F59E0B"/>
                </a:solidFill>
                <a:latin typeface="Trebuchet MS"/>
              </a:defRPr>
            </a:pPr>
            <a:r>
              <a:t>Professional Category Breakdown</a:t>
            </a:r>
          </a:p>
          <a:p>
            <a:pPr>
              <a:spcBef>
                <a:spcPts val="800"/>
              </a:spcBef>
              <a:defRPr sz="1200" b="1">
                <a:solidFill>
                  <a:srgbClr val="38BDF8"/>
                </a:solidFill>
                <a:latin typeface="Trebuchet MS"/>
              </a:defRPr>
            </a:pPr>
            <a:r>
              <a:t>Salaried IT Employees: 51.04%</a:t>
            </a:r>
          </a:p>
          <a:p>
            <a:pPr>
              <a:defRPr sz="900">
                <a:solidFill>
                  <a:srgbClr val="94A3B8"/>
                </a:solidFill>
                <a:latin typeface="Calibri"/>
              </a:defRPr>
            </a:pPr>
            <a:r>
              <a:t>Highest volume &amp; adoption velocity. Digital native spenders.</a:t>
            </a:r>
          </a:p>
          <a:p>
            <a:pPr>
              <a:spcBef>
                <a:spcPts val="800"/>
              </a:spcBef>
              <a:defRPr sz="1200" b="1">
                <a:solidFill>
                  <a:srgbClr val="F59E0B"/>
                </a:solidFill>
                <a:latin typeface="Trebuchet MS"/>
              </a:defRPr>
            </a:pPr>
            <a:r>
              <a:t>Freelancers: 45.80%</a:t>
            </a:r>
          </a:p>
          <a:p>
            <a:pPr>
              <a:defRPr sz="900">
                <a:solidFill>
                  <a:srgbClr val="94A3B8"/>
                </a:solidFill>
                <a:latin typeface="Calibri"/>
              </a:defRPr>
            </a:pPr>
            <a:r>
              <a:t>Flexible income, heavy software, tech &amp; travel expenses.</a:t>
            </a:r>
          </a:p>
          <a:p>
            <a:pPr>
              <a:spcBef>
                <a:spcPts val="800"/>
              </a:spcBef>
              <a:defRPr sz="1200" b="1">
                <a:solidFill>
                  <a:srgbClr val="10B981"/>
                </a:solidFill>
                <a:latin typeface="Trebuchet MS"/>
              </a:defRPr>
            </a:pPr>
            <a:r>
              <a:t>Salaried Other: 42.10%</a:t>
            </a:r>
          </a:p>
          <a:p>
            <a:pPr>
              <a:defRPr sz="900">
                <a:solidFill>
                  <a:srgbClr val="94A3B8"/>
                </a:solidFill>
                <a:latin typeface="Calibri"/>
              </a:defRPr>
            </a:pPr>
            <a:r>
              <a:t>Predictable cashflows, grocery, family &amp; apparel spend.</a:t>
            </a:r>
          </a:p>
          <a:p>
            <a:pPr>
              <a:spcBef>
                <a:spcPts val="800"/>
              </a:spcBef>
              <a:defRPr sz="1200" b="1">
                <a:solidFill>
                  <a:srgbClr val="A855F7"/>
                </a:solidFill>
                <a:latin typeface="Trebuchet MS"/>
              </a:defRPr>
            </a:pPr>
            <a:r>
              <a:t>Business Owners: 33.22%</a:t>
            </a:r>
          </a:p>
          <a:p>
            <a:pPr>
              <a:defRPr sz="900">
                <a:solidFill>
                  <a:srgbClr val="94A3B8"/>
                </a:solidFill>
                <a:latin typeface="Calibri"/>
              </a:defRPr>
            </a:pPr>
            <a:r>
              <a:t>Higher income, significant offline &amp; commercial transactions.</a:t>
            </a:r>
          </a:p>
          <a:p>
            <a:pPr>
              <a:spcBef>
                <a:spcPts val="800"/>
              </a:spcBef>
              <a:defRPr sz="1200" b="1">
                <a:solidFill>
                  <a:srgbClr val="64748B"/>
                </a:solidFill>
                <a:latin typeface="Trebuchet MS"/>
              </a:defRPr>
            </a:pPr>
            <a:r>
              <a:t>Government Employees: 29.00%</a:t>
            </a:r>
          </a:p>
          <a:p>
            <a:pPr>
              <a:defRPr sz="900">
                <a:solidFill>
                  <a:srgbClr val="94A3B8"/>
                </a:solidFill>
                <a:latin typeface="Calibri"/>
              </a:defRPr>
            </a:pPr>
            <a:r>
              <a:t>Conservative spending profile, low credit risk &amp; debt aversion.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a:spAutoFit/>
          </a:bodyPr>
          <a:lstStyle/>
          <a:p>
            <a:pPr>
              <a:defRPr sz="1000" b="1">
                <a:solidFill>
                  <a:srgbClr val="F59E0B"/>
                </a:solidFill>
                <a:latin typeface="Consolas"/>
              </a:defRPr>
            </a:pPr>
            <a:r>
              <a:t>STRATEGIC SEGMENT ANALYSIS</a:t>
            </a:r>
          </a:p>
        </p:txBody>
      </p:sp>
      <p:sp>
        <p:nvSpPr>
          <p:cNvPr id="4" name="TextBox 3"/>
          <p:cNvSpPr txBox="1"/>
          <p:nvPr/>
        </p:nvSpPr>
        <p:spPr>
          <a:xfrm>
            <a:off x="731520" y="640080"/>
            <a:ext cx="8686800" cy="594360"/>
          </a:xfrm>
          <a:prstGeom prst="rect">
            <a:avLst/>
          </a:prstGeom>
          <a:noFill/>
        </p:spPr>
        <p:txBody>
          <a:bodyPr wrap="square">
            <a:spAutoFit/>
          </a:bodyPr>
          <a:lstStyle/>
          <a:p>
            <a:pPr>
              <a:defRPr sz="2200" b="1">
                <a:solidFill>
                  <a:srgbClr val="F8FAFC"/>
                </a:solidFill>
                <a:latin typeface="Trebuchet MS"/>
              </a:defRPr>
            </a:pPr>
            <a:r>
              <a:t>The Upper Class Utilization Cliff &amp; Liquidity Headroom</a:t>
            </a:r>
          </a:p>
        </p:txBody>
      </p:sp>
      <p:sp>
        <p:nvSpPr>
          <p:cNvPr id="5" name="TextBox 4"/>
          <p:cNvSpPr txBox="1"/>
          <p:nvPr/>
        </p:nvSpPr>
        <p:spPr>
          <a:xfrm>
            <a:off x="8961120" y="365760"/>
            <a:ext cx="2468880" cy="411480"/>
          </a:xfrm>
          <a:prstGeom prst="rect">
            <a:avLst/>
          </a:prstGeom>
          <a:noFill/>
        </p:spPr>
        <p:txBody>
          <a:bodyPr wrap="none">
            <a:spAutoFit/>
          </a:bodyPr>
          <a:lstStyle/>
          <a:p>
            <a:pPr algn="r">
              <a:defRPr sz="900" b="1">
                <a:solidFill>
                  <a:srgbClr val="38BDF8"/>
                </a:solidFill>
                <a:latin typeface="Consolas"/>
              </a:defRPr>
            </a:pPr>
            <a:r>
              <a:t>MITRON BANK • CXO EXECUTIVE STRATEGY</a:t>
            </a:r>
          </a:p>
        </p:txBody>
      </p:sp>
      <p:sp>
        <p:nvSpPr>
          <p:cNvPr id="6" name="Rounded Rectangle 5"/>
          <p:cNvSpPr/>
          <p:nvPr/>
        </p:nvSpPr>
        <p:spPr>
          <a:xfrm>
            <a:off x="731520" y="1280160"/>
            <a:ext cx="5212080" cy="5029200"/>
          </a:xfrm>
          <a:prstGeom prst="roundRect">
            <a:avLst/>
          </a:prstGeom>
          <a:solidFill>
            <a:srgbClr val="0E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4846320" cy="4754880"/>
          </a:xfrm>
          <a:prstGeom prst="rect">
            <a:avLst/>
          </a:prstGeom>
          <a:noFill/>
        </p:spPr>
        <p:txBody>
          <a:bodyPr wrap="square">
            <a:spAutoFit/>
          </a:bodyPr>
          <a:lstStyle/>
          <a:p>
            <a:pPr>
              <a:defRPr sz="1400" b="1">
                <a:solidFill>
                  <a:srgbClr val="F43F5E"/>
                </a:solidFill>
                <a:latin typeface="Trebuchet MS"/>
              </a:defRPr>
            </a:pPr>
            <a:r>
              <a:t>Segment Income Utilization %</a:t>
            </a:r>
          </a:p>
          <a:p>
            <a:pPr>
              <a:spcBef>
                <a:spcPts val="1200"/>
              </a:spcBef>
              <a:defRPr sz="1200" b="1">
                <a:solidFill>
                  <a:srgbClr val="38BDF8"/>
                </a:solidFill>
                <a:latin typeface="Trebuchet MS"/>
              </a:defRPr>
            </a:pPr>
            <a:r>
              <a:t>Lower Class (&lt; ₹45,000): 43.20%</a:t>
            </a:r>
          </a:p>
          <a:p>
            <a:pPr>
              <a:defRPr sz="950">
                <a:solidFill>
                  <a:srgbClr val="94A3B8"/>
                </a:solidFill>
                <a:latin typeface="Calibri"/>
              </a:defRPr>
            </a:pPr>
            <a:r>
              <a:t>High proportion of income spent on basic utilities, groceries and rent.</a:t>
            </a:r>
          </a:p>
          <a:p>
            <a:pPr>
              <a:spcBef>
                <a:spcPts val="1200"/>
              </a:spcBef>
              <a:defRPr sz="1200" b="1">
                <a:solidFill>
                  <a:srgbClr val="F59E0B"/>
                </a:solidFill>
                <a:latin typeface="Trebuchet MS"/>
              </a:defRPr>
            </a:pPr>
            <a:r>
              <a:t>Middle Class (₹45,000 – ₹79,999): 43.03%</a:t>
            </a:r>
          </a:p>
          <a:p>
            <a:pPr>
              <a:defRPr sz="950">
                <a:solidFill>
                  <a:srgbClr val="94A3B8"/>
                </a:solidFill>
                <a:latin typeface="Calibri"/>
              </a:defRPr>
            </a:pPr>
            <a:r>
              <a:t>Balanced family spending: education, electronics, groceries &amp; apparel.</a:t>
            </a:r>
          </a:p>
          <a:p>
            <a:pPr>
              <a:spcBef>
                <a:spcPts val="1200"/>
              </a:spcBef>
              <a:defRPr sz="1200" b="1">
                <a:solidFill>
                  <a:srgbClr val="F43F5E"/>
                </a:solidFill>
                <a:latin typeface="Trebuchet MS"/>
              </a:defRPr>
            </a:pPr>
            <a:r>
              <a:t>Upper Class (≥ ₹80,000): 29.63%</a:t>
            </a:r>
          </a:p>
          <a:p>
            <a:pPr>
              <a:defRPr sz="950">
                <a:solidFill>
                  <a:srgbClr val="94A3B8"/>
                </a:solidFill>
                <a:latin typeface="Calibri"/>
              </a:defRPr>
            </a:pPr>
            <a:r>
              <a:t>THE CLIFF: A 13.4% utilization drop! 70.37% income remains unspent.</a:t>
            </a:r>
          </a:p>
        </p:txBody>
      </p:sp>
      <p:sp>
        <p:nvSpPr>
          <p:cNvPr id="8" name="Rounded Rectangle 7"/>
          <p:cNvSpPr/>
          <p:nvPr/>
        </p:nvSpPr>
        <p:spPr>
          <a:xfrm>
            <a:off x="6217920" y="1280160"/>
            <a:ext cx="5212080" cy="5029200"/>
          </a:xfrm>
          <a:prstGeom prst="roundRect">
            <a:avLst/>
          </a:prstGeom>
          <a:solidFill>
            <a:srgbClr val="0E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371600"/>
            <a:ext cx="4846320" cy="4754880"/>
          </a:xfrm>
          <a:prstGeom prst="rect">
            <a:avLst/>
          </a:prstGeom>
          <a:noFill/>
        </p:spPr>
        <p:txBody>
          <a:bodyPr wrap="square">
            <a:spAutoFit/>
          </a:bodyPr>
          <a:lstStyle/>
          <a:p>
            <a:pPr>
              <a:defRPr sz="1400" b="1">
                <a:solidFill>
                  <a:srgbClr val="10B981"/>
                </a:solidFill>
                <a:latin typeface="Trebuchet MS"/>
              </a:defRPr>
            </a:pPr>
            <a:r>
              <a:t>Executive Strategic Implication</a:t>
            </a:r>
          </a:p>
          <a:p>
            <a:pPr>
              <a:spcBef>
                <a:spcPts val="1000"/>
              </a:spcBef>
              <a:defRPr sz="1200" b="1">
                <a:solidFill>
                  <a:srgbClr val="F43F5E"/>
                </a:solidFill>
                <a:latin typeface="Trebuchet MS"/>
              </a:defRPr>
            </a:pPr>
            <a:r>
              <a:t>₹ 2.84 Million / Month Untapped Liquidity</a:t>
            </a:r>
          </a:p>
          <a:p>
            <a:pPr>
              <a:defRPr sz="950">
                <a:solidFill>
                  <a:srgbClr val="F8FAFC"/>
                </a:solidFill>
                <a:latin typeface="Calibri"/>
              </a:defRPr>
            </a:pPr>
            <a:r>
              <a:t>Upper Class customers (avg_income ≥ ₹80,000) have an average monthly income of ₹82,400 but only spend ₹24,418 on primary tracked channels. That leaves 70.37% of their earning power unallocated to current cards!</a:t>
            </a:r>
          </a:p>
          <a:p>
            <a:pPr>
              <a:spcBef>
                <a:spcPts val="1400"/>
              </a:spcBef>
              <a:defRPr sz="1200" b="1">
                <a:solidFill>
                  <a:srgbClr val="F59E0B"/>
                </a:solidFill>
                <a:latin typeface="Trebuchet MS"/>
              </a:defRPr>
            </a:pPr>
            <a:r>
              <a:t>The Cashback Fallacy</a:t>
            </a:r>
          </a:p>
          <a:p>
            <a:pPr>
              <a:defRPr sz="950">
                <a:solidFill>
                  <a:srgbClr val="F8FAFC"/>
                </a:solidFill>
                <a:latin typeface="Calibri"/>
              </a:defRPr>
            </a:pPr>
            <a:r>
              <a:t>Affluent customers do not care about 1% cashback on groceries or petrol. They optimize for status, global travel concierge, zero foreign exchange markups, and lounge access. Designing a card around their lifestyle captures this high-margin headroom.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a:spAutoFit/>
          </a:bodyPr>
          <a:lstStyle/>
          <a:p>
            <a:pPr>
              <a:defRPr sz="1000" b="1">
                <a:solidFill>
                  <a:srgbClr val="F59E0B"/>
                </a:solidFill>
                <a:latin typeface="Consolas"/>
              </a:defRPr>
            </a:pPr>
            <a:r>
              <a:t>DATA ARCHITECTURE &amp; MODEL STUDIO</a:t>
            </a:r>
          </a:p>
        </p:txBody>
      </p:sp>
      <p:sp>
        <p:nvSpPr>
          <p:cNvPr id="4" name="TextBox 3"/>
          <p:cNvSpPr txBox="1"/>
          <p:nvPr/>
        </p:nvSpPr>
        <p:spPr>
          <a:xfrm>
            <a:off x="731520" y="640080"/>
            <a:ext cx="8686800" cy="594360"/>
          </a:xfrm>
          <a:prstGeom prst="rect">
            <a:avLst/>
          </a:prstGeom>
          <a:noFill/>
        </p:spPr>
        <p:txBody>
          <a:bodyPr wrap="square">
            <a:spAutoFit/>
          </a:bodyPr>
          <a:lstStyle/>
          <a:p>
            <a:pPr>
              <a:defRPr sz="2200" b="1">
                <a:solidFill>
                  <a:srgbClr val="F8FAFC"/>
                </a:solidFill>
                <a:latin typeface="Trebuchet MS"/>
              </a:defRPr>
            </a:pPr>
            <a:r>
              <a:t>Kimball Star Schema &amp; Single-Direction Filter Propagation</a:t>
            </a:r>
          </a:p>
        </p:txBody>
      </p:sp>
      <p:sp>
        <p:nvSpPr>
          <p:cNvPr id="5" name="TextBox 4"/>
          <p:cNvSpPr txBox="1"/>
          <p:nvPr/>
        </p:nvSpPr>
        <p:spPr>
          <a:xfrm>
            <a:off x="8961120" y="365760"/>
            <a:ext cx="2468880" cy="411480"/>
          </a:xfrm>
          <a:prstGeom prst="rect">
            <a:avLst/>
          </a:prstGeom>
          <a:noFill/>
        </p:spPr>
        <p:txBody>
          <a:bodyPr wrap="none">
            <a:spAutoFit/>
          </a:bodyPr>
          <a:lstStyle/>
          <a:p>
            <a:pPr algn="r">
              <a:defRPr sz="900" b="1">
                <a:solidFill>
                  <a:srgbClr val="38BDF8"/>
                </a:solidFill>
                <a:latin typeface="Consolas"/>
              </a:defRPr>
            </a:pPr>
            <a:r>
              <a:t>MITRON BANK • CXO EXECUTIVE STRATEGY</a:t>
            </a:r>
          </a:p>
        </p:txBody>
      </p:sp>
      <p:pic>
        <p:nvPicPr>
          <p:cNvPr id="6" name="Picture 5" descr="08-star-schema-studio.png"/>
          <p:cNvPicPr>
            <a:picLocks noChangeAspect="1"/>
          </p:cNvPicPr>
          <p:nvPr/>
        </p:nvPicPr>
        <p:blipFill>
          <a:blip r:embed="rId2"/>
          <a:stretch>
            <a:fillRect/>
          </a:stretch>
        </p:blipFill>
        <p:spPr>
          <a:xfrm>
            <a:off x="731520" y="1280160"/>
            <a:ext cx="6858000" cy="5029200"/>
          </a:xfrm>
          <a:prstGeom prst="rect">
            <a:avLst/>
          </a:prstGeom>
        </p:spPr>
      </p:pic>
      <p:sp>
        <p:nvSpPr>
          <p:cNvPr id="7" name="Rounded Rectangle 6"/>
          <p:cNvSpPr/>
          <p:nvPr/>
        </p:nvSpPr>
        <p:spPr>
          <a:xfrm>
            <a:off x="7772400" y="1280160"/>
            <a:ext cx="3657600" cy="5029200"/>
          </a:xfrm>
          <a:prstGeom prst="roundRect">
            <a:avLst/>
          </a:prstGeom>
          <a:solidFill>
            <a:srgbClr val="0E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1371600"/>
            <a:ext cx="3291840" cy="4754880"/>
          </a:xfrm>
          <a:prstGeom prst="rect">
            <a:avLst/>
          </a:prstGeom>
          <a:noFill/>
        </p:spPr>
        <p:txBody>
          <a:bodyPr wrap="square">
            <a:spAutoFit/>
          </a:bodyPr>
          <a:lstStyle/>
          <a:p>
            <a:pPr>
              <a:defRPr sz="1400" b="1">
                <a:solidFill>
                  <a:srgbClr val="38BDF8"/>
                </a:solidFill>
                <a:latin typeface="Trebuchet MS"/>
              </a:defRPr>
            </a:pPr>
            <a:r>
              <a:t>Model Specifications</a:t>
            </a:r>
          </a:p>
          <a:p>
            <a:pPr>
              <a:spcBef>
                <a:spcPts val="800"/>
              </a:spcBef>
              <a:defRPr sz="1100" b="1">
                <a:solidFill>
                  <a:srgbClr val="10B981"/>
                </a:solidFill>
                <a:latin typeface="Trebuchet MS"/>
              </a:defRPr>
            </a:pPr>
            <a:r>
              <a:t>• Strict 1:* Single Direction</a:t>
            </a:r>
          </a:p>
          <a:p>
            <a:pPr>
              <a:defRPr sz="900">
                <a:solidFill>
                  <a:srgbClr val="94A3B8"/>
                </a:solidFill>
                <a:latin typeface="Calibri"/>
              </a:defRPr>
            </a:pPr>
            <a:r>
              <a:t>Dimensions filter facts cleanly. Zero bidirectional cross-filters, eliminating cartesian explosion and measure distortion.</a:t>
            </a:r>
          </a:p>
          <a:p>
            <a:pPr>
              <a:spcBef>
                <a:spcPts val="800"/>
              </a:spcBef>
              <a:defRPr sz="1100" b="1">
                <a:solidFill>
                  <a:srgbClr val="F59E0B"/>
                </a:solidFill>
                <a:latin typeface="Trebuchet MS"/>
              </a:defRPr>
            </a:pPr>
            <a:r>
              <a:t>• Fact Table Grain</a:t>
            </a:r>
          </a:p>
          <a:p>
            <a:pPr>
              <a:defRPr sz="900">
                <a:solidFill>
                  <a:srgbClr val="94A3B8"/>
                </a:solidFill>
                <a:latin typeface="Calibri"/>
              </a:defRPr>
            </a:pPr>
            <a:r>
              <a:t>fact_spends is keyed at customer_id × month × category × payment_type across 864k transactions.</a:t>
            </a:r>
          </a:p>
          <a:p>
            <a:pPr>
              <a:spcBef>
                <a:spcPts val="800"/>
              </a:spcBef>
              <a:defRPr sz="1100" b="1">
                <a:solidFill>
                  <a:srgbClr val="38BDF8"/>
                </a:solidFill>
                <a:latin typeface="Trebuchet MS"/>
              </a:defRPr>
            </a:pPr>
            <a:r>
              <a:t>• Dates Dimension</a:t>
            </a:r>
          </a:p>
          <a:p>
            <a:pPr>
              <a:defRPr sz="900">
                <a:solidFill>
                  <a:srgbClr val="94A3B8"/>
                </a:solidFill>
                <a:latin typeface="Calibri"/>
              </a:defRPr>
            </a:pPr>
            <a:r>
              <a:t>Role-playing calendar table mapping month names to numeric month_index (5..10) to enforce calendar sorting.</a:t>
            </a:r>
          </a:p>
          <a:p>
            <a:pPr>
              <a:spcBef>
                <a:spcPts val="800"/>
              </a:spcBef>
              <a:defRPr sz="1100" b="1">
                <a:solidFill>
                  <a:srgbClr val="A855F7"/>
                </a:solidFill>
                <a:latin typeface="Trebuchet MS"/>
              </a:defRPr>
            </a:pPr>
            <a:r>
              <a:t>• Anti-Fan-Out Guarantee</a:t>
            </a:r>
          </a:p>
          <a:p>
            <a:pPr>
              <a:defRPr sz="900">
                <a:solidFill>
                  <a:srgbClr val="94A3B8"/>
                </a:solidFill>
                <a:latin typeface="Calibri"/>
              </a:defRPr>
            </a:pPr>
            <a:r>
              <a:t>Measures evaluate without risk of double-counting transactions across demographic slicers.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a:spAutoFit/>
          </a:bodyPr>
          <a:lstStyle/>
          <a:p>
            <a:pPr>
              <a:defRPr sz="1000" b="1">
                <a:solidFill>
                  <a:srgbClr val="F59E0B"/>
                </a:solidFill>
                <a:latin typeface="Consolas"/>
              </a:defRPr>
            </a:pPr>
            <a:r>
              <a:t>PRODUCT POSITIONING &amp; FEATURES</a:t>
            </a:r>
          </a:p>
        </p:txBody>
      </p:sp>
      <p:sp>
        <p:nvSpPr>
          <p:cNvPr id="4" name="TextBox 3"/>
          <p:cNvSpPr txBox="1"/>
          <p:nvPr/>
        </p:nvSpPr>
        <p:spPr>
          <a:xfrm>
            <a:off x="731520" y="640080"/>
            <a:ext cx="8686800" cy="594360"/>
          </a:xfrm>
          <a:prstGeom prst="rect">
            <a:avLst/>
          </a:prstGeom>
          <a:noFill/>
        </p:spPr>
        <p:txBody>
          <a:bodyPr wrap="square">
            <a:spAutoFit/>
          </a:bodyPr>
          <a:lstStyle/>
          <a:p>
            <a:pPr>
              <a:defRPr sz="2200" b="1">
                <a:solidFill>
                  <a:srgbClr val="F8FAFC"/>
                </a:solidFill>
                <a:latin typeface="Trebuchet MS"/>
              </a:defRPr>
            </a:pPr>
            <a:r>
              <a:t>Tailored 3-Tier Credit Card Strategy</a:t>
            </a:r>
          </a:p>
        </p:txBody>
      </p:sp>
      <p:sp>
        <p:nvSpPr>
          <p:cNvPr id="5" name="TextBox 4"/>
          <p:cNvSpPr txBox="1"/>
          <p:nvPr/>
        </p:nvSpPr>
        <p:spPr>
          <a:xfrm>
            <a:off x="8961120" y="365760"/>
            <a:ext cx="2468880" cy="411480"/>
          </a:xfrm>
          <a:prstGeom prst="rect">
            <a:avLst/>
          </a:prstGeom>
          <a:noFill/>
        </p:spPr>
        <p:txBody>
          <a:bodyPr wrap="none">
            <a:spAutoFit/>
          </a:bodyPr>
          <a:lstStyle/>
          <a:p>
            <a:pPr algn="r">
              <a:defRPr sz="900" b="1">
                <a:solidFill>
                  <a:srgbClr val="38BDF8"/>
                </a:solidFill>
                <a:latin typeface="Consolas"/>
              </a:defRPr>
            </a:pPr>
            <a:r>
              <a:t>MITRON BANK • CXO EXECUTIVE STRATEGY</a:t>
            </a:r>
          </a:p>
        </p:txBody>
      </p:sp>
      <p:sp>
        <p:nvSpPr>
          <p:cNvPr id="6" name="Rounded Rectangle 5"/>
          <p:cNvSpPr/>
          <p:nvPr/>
        </p:nvSpPr>
        <p:spPr>
          <a:xfrm>
            <a:off x="731520" y="1280160"/>
            <a:ext cx="3474720" cy="5029200"/>
          </a:xfrm>
          <a:prstGeom prst="roundRect">
            <a:avLst/>
          </a:prstGeom>
          <a:solidFill>
            <a:srgbClr val="0E1424"/>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3108960" cy="4754880"/>
          </a:xfrm>
          <a:prstGeom prst="rect">
            <a:avLst/>
          </a:prstGeom>
          <a:noFill/>
        </p:spPr>
        <p:txBody>
          <a:bodyPr wrap="square">
            <a:spAutoFit/>
          </a:bodyPr>
          <a:lstStyle/>
          <a:p>
            <a:pPr>
              <a:defRPr sz="900" b="1">
                <a:solidFill>
                  <a:srgbClr val="F59E0B"/>
                </a:solidFill>
                <a:latin typeface="Consolas"/>
              </a:defRPr>
            </a:pPr>
            <a:r>
              <a:t>VOLUME DRIVER</a:t>
            </a:r>
          </a:p>
          <a:p>
            <a:pPr>
              <a:spcBef>
                <a:spcPts val="400"/>
              </a:spcBef>
              <a:defRPr sz="1500" b="1">
                <a:solidFill>
                  <a:srgbClr val="F8FAFC"/>
                </a:solidFill>
                <a:latin typeface="Trebuchet MS"/>
              </a:defRPr>
            </a:pPr>
            <a:r>
              <a:t>Mitron Tech &amp; Bills Elevate</a:t>
            </a:r>
          </a:p>
          <a:p>
            <a:pPr>
              <a:spcBef>
                <a:spcPts val="200"/>
              </a:spcBef>
              <a:defRPr sz="850">
                <a:solidFill>
                  <a:srgbClr val="64748B"/>
                </a:solidFill>
                <a:latin typeface="Consolas"/>
              </a:defRPr>
            </a:pPr>
            <a:r>
              <a:t>Target: Salaried IT &amp; Metros (51.04% Util)</a:t>
            </a:r>
          </a:p>
          <a:p>
            <a:pPr>
              <a:spcBef>
                <a:spcPts val="1400"/>
              </a:spcBef>
              <a:defRPr sz="800" b="1">
                <a:solidFill>
                  <a:srgbClr val="94A3B8"/>
                </a:solidFill>
                <a:latin typeface="Consolas"/>
              </a:defRPr>
            </a:pPr>
            <a:r>
              <a:t>CORE CARD BENEFITS:</a:t>
            </a:r>
          </a:p>
          <a:p>
            <a:pPr>
              <a:spcBef>
                <a:spcPts val="600"/>
              </a:spcBef>
              <a:defRPr sz="950">
                <a:solidFill>
                  <a:srgbClr val="F8FAFC"/>
                </a:solidFill>
                <a:latin typeface="Calibri"/>
              </a:defRPr>
            </a:pPr>
            <a:r>
              <a:t>✓ 5% Cashback on Utility Bills &amp; Subscriptions</a:t>
            </a:r>
          </a:p>
          <a:p>
            <a:pPr>
              <a:spcBef>
                <a:spcPts val="600"/>
              </a:spcBef>
              <a:defRPr sz="950">
                <a:solidFill>
                  <a:srgbClr val="F8FAFC"/>
                </a:solidFill>
                <a:latin typeface="Calibri"/>
              </a:defRPr>
            </a:pPr>
            <a:r>
              <a:t>✓ 3% Cashback on Electronics &amp; Gadget Retail</a:t>
            </a:r>
          </a:p>
          <a:p>
            <a:pPr>
              <a:spcBef>
                <a:spcPts val="600"/>
              </a:spcBef>
              <a:defRPr sz="950">
                <a:solidFill>
                  <a:srgbClr val="F8FAFC"/>
                </a:solidFill>
                <a:latin typeface="Calibri"/>
              </a:defRPr>
            </a:pPr>
            <a:r>
              <a:t>✓ 1% Flat Universal Cashback on all merchant spends</a:t>
            </a:r>
          </a:p>
          <a:p>
            <a:pPr>
              <a:spcBef>
                <a:spcPts val="600"/>
              </a:spcBef>
              <a:defRPr sz="950">
                <a:solidFill>
                  <a:srgbClr val="F8FAFC"/>
                </a:solidFill>
                <a:latin typeface="Calibri"/>
              </a:defRPr>
            </a:pPr>
            <a:r>
              <a:t>✓ ₹1.5 Lakh Annual Spend Waiver for renewal fee</a:t>
            </a:r>
          </a:p>
        </p:txBody>
      </p:sp>
      <p:sp>
        <p:nvSpPr>
          <p:cNvPr id="8" name="Rounded Rectangle 7"/>
          <p:cNvSpPr/>
          <p:nvPr/>
        </p:nvSpPr>
        <p:spPr>
          <a:xfrm>
            <a:off x="4370832" y="1280160"/>
            <a:ext cx="3474720" cy="5029200"/>
          </a:xfrm>
          <a:prstGeom prst="roundRect">
            <a:avLst/>
          </a:prstGeom>
          <a:solidFill>
            <a:srgbClr val="0E142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371600"/>
            <a:ext cx="3108960" cy="4754880"/>
          </a:xfrm>
          <a:prstGeom prst="rect">
            <a:avLst/>
          </a:prstGeom>
          <a:noFill/>
        </p:spPr>
        <p:txBody>
          <a:bodyPr wrap="square">
            <a:spAutoFit/>
          </a:bodyPr>
          <a:lstStyle/>
          <a:p>
            <a:pPr>
              <a:defRPr sz="900" b="1">
                <a:solidFill>
                  <a:srgbClr val="38BDF8"/>
                </a:solidFill>
                <a:latin typeface="Consolas"/>
              </a:defRPr>
            </a:pPr>
            <a:r>
              <a:t>LIFESTYLE DRIVER</a:t>
            </a:r>
          </a:p>
          <a:p>
            <a:pPr>
              <a:spcBef>
                <a:spcPts val="400"/>
              </a:spcBef>
              <a:defRPr sz="1500" b="1">
                <a:solidFill>
                  <a:srgbClr val="F8FAFC"/>
                </a:solidFill>
                <a:latin typeface="Trebuchet MS"/>
              </a:defRPr>
            </a:pPr>
            <a:r>
              <a:t>Mitron Family &amp; Lifestyle Rewards</a:t>
            </a:r>
          </a:p>
          <a:p>
            <a:pPr>
              <a:spcBef>
                <a:spcPts val="200"/>
              </a:spcBef>
              <a:defRPr sz="850">
                <a:solidFill>
                  <a:srgbClr val="64748B"/>
                </a:solidFill>
                <a:latin typeface="Consolas"/>
              </a:defRPr>
            </a:pPr>
            <a:r>
              <a:t>Target: Age 35–45 &amp; Middle Class (46.72% Util)</a:t>
            </a:r>
          </a:p>
          <a:p>
            <a:pPr>
              <a:spcBef>
                <a:spcPts val="1400"/>
              </a:spcBef>
              <a:defRPr sz="800" b="1">
                <a:solidFill>
                  <a:srgbClr val="94A3B8"/>
                </a:solidFill>
                <a:latin typeface="Consolas"/>
              </a:defRPr>
            </a:pPr>
            <a:r>
              <a:t>CORE CARD BENEFITS:</a:t>
            </a:r>
          </a:p>
          <a:p>
            <a:pPr>
              <a:spcBef>
                <a:spcPts val="600"/>
              </a:spcBef>
              <a:defRPr sz="950">
                <a:solidFill>
                  <a:srgbClr val="F8FAFC"/>
                </a:solidFill>
                <a:latin typeface="Calibri"/>
              </a:defRPr>
            </a:pPr>
            <a:r>
              <a:t>✓ 4% Accelerated Rewards on Supermarkets &amp; Groceries</a:t>
            </a:r>
          </a:p>
          <a:p>
            <a:pPr>
              <a:spcBef>
                <a:spcPts val="600"/>
              </a:spcBef>
              <a:defRPr sz="950">
                <a:solidFill>
                  <a:srgbClr val="F8FAFC"/>
                </a:solidFill>
                <a:latin typeface="Calibri"/>
              </a:defRPr>
            </a:pPr>
            <a:r>
              <a:t>✓ 2 Complimentary Domestic Airport Lounge Visits / Qtr</a:t>
            </a:r>
          </a:p>
          <a:p>
            <a:pPr>
              <a:spcBef>
                <a:spcPts val="600"/>
              </a:spcBef>
              <a:defRPr sz="950">
                <a:solidFill>
                  <a:srgbClr val="F8FAFC"/>
                </a:solidFill>
                <a:latin typeface="Calibri"/>
              </a:defRPr>
            </a:pPr>
            <a:r>
              <a:t>✓ 1.5% Fuel Surcharge Waiver nationwide</a:t>
            </a:r>
          </a:p>
          <a:p>
            <a:pPr>
              <a:spcBef>
                <a:spcPts val="600"/>
              </a:spcBef>
              <a:defRPr sz="950">
                <a:solidFill>
                  <a:srgbClr val="F8FAFC"/>
                </a:solidFill>
                <a:latin typeface="Calibri"/>
              </a:defRPr>
            </a:pPr>
            <a:r>
              <a:t>✓ Buy-1-Get-1 Weekend Movie &amp; Dining Benefits</a:t>
            </a:r>
          </a:p>
        </p:txBody>
      </p:sp>
      <p:sp>
        <p:nvSpPr>
          <p:cNvPr id="10" name="Rounded Rectangle 9"/>
          <p:cNvSpPr/>
          <p:nvPr/>
        </p:nvSpPr>
        <p:spPr>
          <a:xfrm>
            <a:off x="8010144" y="1280160"/>
            <a:ext cx="3474720" cy="5029200"/>
          </a:xfrm>
          <a:prstGeom prst="roundRect">
            <a:avLst/>
          </a:prstGeom>
          <a:solidFill>
            <a:srgbClr val="0E1424"/>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4" y="1371600"/>
            <a:ext cx="3108960" cy="4754880"/>
          </a:xfrm>
          <a:prstGeom prst="rect">
            <a:avLst/>
          </a:prstGeom>
          <a:noFill/>
        </p:spPr>
        <p:txBody>
          <a:bodyPr wrap="square">
            <a:spAutoFit/>
          </a:bodyPr>
          <a:lstStyle/>
          <a:p>
            <a:pPr>
              <a:defRPr sz="900" b="1">
                <a:solidFill>
                  <a:srgbClr val="F43F5E"/>
                </a:solidFill>
                <a:latin typeface="Consolas"/>
              </a:defRPr>
            </a:pPr>
            <a:r>
              <a:t>HIGH-MARGIN PREMIUM</a:t>
            </a:r>
          </a:p>
          <a:p>
            <a:pPr>
              <a:spcBef>
                <a:spcPts val="400"/>
              </a:spcBef>
              <a:defRPr sz="1500" b="1">
                <a:solidFill>
                  <a:srgbClr val="F8FAFC"/>
                </a:solidFill>
                <a:latin typeface="Trebuchet MS"/>
              </a:defRPr>
            </a:pPr>
            <a:r>
              <a:t>Mitron Privé Elite Signature</a:t>
            </a:r>
          </a:p>
          <a:p>
            <a:pPr>
              <a:spcBef>
                <a:spcPts val="200"/>
              </a:spcBef>
              <a:defRPr sz="850">
                <a:solidFill>
                  <a:srgbClr val="64748B"/>
                </a:solidFill>
                <a:latin typeface="Consolas"/>
              </a:defRPr>
            </a:pPr>
            <a:r>
              <a:t>Target: Upper Class Affluent (29.63% Util)</a:t>
            </a:r>
          </a:p>
          <a:p>
            <a:pPr>
              <a:spcBef>
                <a:spcPts val="1400"/>
              </a:spcBef>
              <a:defRPr sz="800" b="1">
                <a:solidFill>
                  <a:srgbClr val="94A3B8"/>
                </a:solidFill>
                <a:latin typeface="Consolas"/>
              </a:defRPr>
            </a:pPr>
            <a:r>
              <a:t>CORE CARD BENEFITS:</a:t>
            </a:r>
          </a:p>
          <a:p>
            <a:pPr>
              <a:spcBef>
                <a:spcPts val="600"/>
              </a:spcBef>
              <a:defRPr sz="950">
                <a:solidFill>
                  <a:srgbClr val="F8FAFC"/>
                </a:solidFill>
                <a:latin typeface="Calibri"/>
              </a:defRPr>
            </a:pPr>
            <a:r>
              <a:t>✓ 2x Points on International Travel &amp; Luxury Retail</a:t>
            </a:r>
          </a:p>
          <a:p>
            <a:pPr>
              <a:spcBef>
                <a:spcPts val="600"/>
              </a:spcBef>
              <a:defRPr sz="950">
                <a:solidFill>
                  <a:srgbClr val="F8FAFC"/>
                </a:solidFill>
                <a:latin typeface="Calibri"/>
              </a:defRPr>
            </a:pPr>
            <a:r>
              <a:t>✓ Low 1.5% Forex Fee (vs. 3.5% industry standard)</a:t>
            </a:r>
          </a:p>
          <a:p>
            <a:pPr>
              <a:spcBef>
                <a:spcPts val="600"/>
              </a:spcBef>
              <a:defRPr sz="950">
                <a:solidFill>
                  <a:srgbClr val="F8FAFC"/>
                </a:solidFill>
                <a:latin typeface="Calibri"/>
              </a:defRPr>
            </a:pPr>
            <a:r>
              <a:t>✓ 24/7 Dedicated Private Concierge &amp; Golf Access</a:t>
            </a:r>
          </a:p>
          <a:p>
            <a:pPr>
              <a:spcBef>
                <a:spcPts val="600"/>
              </a:spcBef>
              <a:defRPr sz="950">
                <a:solidFill>
                  <a:srgbClr val="F8FAFC"/>
                </a:solidFill>
                <a:latin typeface="Calibri"/>
              </a:defRPr>
            </a:pPr>
            <a:r>
              <a:t>✓ ₹1 Crore Complimentary Global Travel Insurance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a:spAutoFit/>
          </a:bodyPr>
          <a:lstStyle/>
          <a:p>
            <a:pPr>
              <a:defRPr sz="1000" b="1">
                <a:solidFill>
                  <a:srgbClr val="F59E0B"/>
                </a:solidFill>
                <a:latin typeface="Consolas"/>
              </a:defRPr>
            </a:pPr>
            <a:r>
              <a:t>FINANCIAL PROJECTIONS &amp; SENSITIVITY</a:t>
            </a:r>
          </a:p>
        </p:txBody>
      </p:sp>
      <p:sp>
        <p:nvSpPr>
          <p:cNvPr id="4" name="TextBox 3"/>
          <p:cNvSpPr txBox="1"/>
          <p:nvPr/>
        </p:nvSpPr>
        <p:spPr>
          <a:xfrm>
            <a:off x="731520" y="640080"/>
            <a:ext cx="8686800" cy="594360"/>
          </a:xfrm>
          <a:prstGeom prst="rect">
            <a:avLst/>
          </a:prstGeom>
          <a:noFill/>
        </p:spPr>
        <p:txBody>
          <a:bodyPr wrap="square">
            <a:spAutoFit/>
          </a:bodyPr>
          <a:lstStyle/>
          <a:p>
            <a:pPr>
              <a:defRPr sz="2200" b="1">
                <a:solidFill>
                  <a:srgbClr val="F8FAFC"/>
                </a:solidFill>
                <a:latin typeface="Trebuchet MS"/>
              </a:defRPr>
            </a:pPr>
            <a:r>
              <a:t>Portfolio Revenue Simulator &amp; Unit Economics</a:t>
            </a:r>
          </a:p>
        </p:txBody>
      </p:sp>
      <p:sp>
        <p:nvSpPr>
          <p:cNvPr id="5" name="TextBox 4"/>
          <p:cNvSpPr txBox="1"/>
          <p:nvPr/>
        </p:nvSpPr>
        <p:spPr>
          <a:xfrm>
            <a:off x="8961120" y="365760"/>
            <a:ext cx="2468880" cy="411480"/>
          </a:xfrm>
          <a:prstGeom prst="rect">
            <a:avLst/>
          </a:prstGeom>
          <a:noFill/>
        </p:spPr>
        <p:txBody>
          <a:bodyPr wrap="none">
            <a:spAutoFit/>
          </a:bodyPr>
          <a:lstStyle/>
          <a:p>
            <a:pPr algn="r">
              <a:defRPr sz="900" b="1">
                <a:solidFill>
                  <a:srgbClr val="38BDF8"/>
                </a:solidFill>
                <a:latin typeface="Consolas"/>
              </a:defRPr>
            </a:pPr>
            <a:r>
              <a:t>MITRON BANK • CXO EXECUTIVE STRATEGY</a:t>
            </a:r>
          </a:p>
        </p:txBody>
      </p:sp>
      <p:sp>
        <p:nvSpPr>
          <p:cNvPr id="6" name="Rounded Rectangle 5"/>
          <p:cNvSpPr/>
          <p:nvPr/>
        </p:nvSpPr>
        <p:spPr>
          <a:xfrm>
            <a:off x="731520" y="1280160"/>
            <a:ext cx="5212080" cy="5029200"/>
          </a:xfrm>
          <a:prstGeom prst="roundRect">
            <a:avLst/>
          </a:prstGeom>
          <a:solidFill>
            <a:srgbClr val="0E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4846320" cy="4754880"/>
          </a:xfrm>
          <a:prstGeom prst="rect">
            <a:avLst/>
          </a:prstGeom>
          <a:noFill/>
        </p:spPr>
        <p:txBody>
          <a:bodyPr wrap="square">
            <a:spAutoFit/>
          </a:bodyPr>
          <a:lstStyle/>
          <a:p>
            <a:pPr>
              <a:defRPr sz="1400" b="1">
                <a:solidFill>
                  <a:srgbClr val="F59E0B"/>
                </a:solidFill>
                <a:latin typeface="Trebuchet MS"/>
              </a:defRPr>
            </a:pPr>
            <a:r>
              <a:t>Year-1 Baseline Assumptions</a:t>
            </a:r>
          </a:p>
          <a:p>
            <a:pPr>
              <a:spcBef>
                <a:spcPts val="800"/>
              </a:spcBef>
              <a:defRPr sz="1100" b="1">
                <a:solidFill>
                  <a:srgbClr val="F8FAFC"/>
                </a:solidFill>
                <a:latin typeface="Trebuchet MS"/>
              </a:defRPr>
            </a:pPr>
            <a:r>
              <a:t>• Card Customer Adoption</a:t>
            </a:r>
          </a:p>
          <a:p>
            <a:pPr>
              <a:defRPr sz="950">
                <a:solidFill>
                  <a:srgbClr val="94A3B8"/>
                </a:solidFill>
                <a:latin typeface="Calibri"/>
              </a:defRPr>
            </a:pPr>
            <a:r>
              <a:t>2,500 active cardholders (62.5% of 4,000 base)</a:t>
            </a:r>
          </a:p>
          <a:p>
            <a:pPr>
              <a:spcBef>
                <a:spcPts val="800"/>
              </a:spcBef>
              <a:defRPr sz="1100" b="1">
                <a:solidFill>
                  <a:srgbClr val="F8FAFC"/>
                </a:solidFill>
                <a:latin typeface="Trebuchet MS"/>
              </a:defRPr>
            </a:pPr>
            <a:r>
              <a:t>• Average Monthly Spend / Card</a:t>
            </a:r>
          </a:p>
          <a:p>
            <a:pPr>
              <a:defRPr sz="950">
                <a:solidFill>
                  <a:srgbClr val="94A3B8"/>
                </a:solidFill>
                <a:latin typeface="Calibri"/>
              </a:defRPr>
            </a:pPr>
            <a:r>
              <a:t>₹ 25,000 / month across merchant categories</a:t>
            </a:r>
          </a:p>
          <a:p>
            <a:pPr>
              <a:spcBef>
                <a:spcPts val="800"/>
              </a:spcBef>
              <a:defRPr sz="1100" b="1">
                <a:solidFill>
                  <a:srgbClr val="F8FAFC"/>
                </a:solidFill>
                <a:latin typeface="Trebuchet MS"/>
              </a:defRPr>
            </a:pPr>
            <a:r>
              <a:t>• Merchant Interchange Fee</a:t>
            </a:r>
          </a:p>
          <a:p>
            <a:pPr>
              <a:defRPr sz="950">
                <a:solidFill>
                  <a:srgbClr val="94A3B8"/>
                </a:solidFill>
                <a:latin typeface="Calibri"/>
              </a:defRPr>
            </a:pPr>
            <a:r>
              <a:t>1.75% blended net interchange on credit volumes</a:t>
            </a:r>
          </a:p>
          <a:p>
            <a:pPr>
              <a:spcBef>
                <a:spcPts val="800"/>
              </a:spcBef>
              <a:defRPr sz="1100" b="1">
                <a:solidFill>
                  <a:srgbClr val="F8FAFC"/>
                </a:solidFill>
                <a:latin typeface="Trebuchet MS"/>
              </a:defRPr>
            </a:pPr>
            <a:r>
              <a:t>• Annual Membership Fee</a:t>
            </a:r>
          </a:p>
          <a:p>
            <a:pPr>
              <a:defRPr sz="950">
                <a:solidFill>
                  <a:srgbClr val="94A3B8"/>
                </a:solidFill>
                <a:latin typeface="Calibri"/>
              </a:defRPr>
            </a:pPr>
            <a:r>
              <a:t>₹ 1,500 / customer (blended across 3 tiers)</a:t>
            </a:r>
          </a:p>
          <a:p>
            <a:pPr>
              <a:spcBef>
                <a:spcPts val="800"/>
              </a:spcBef>
              <a:defRPr sz="1100" b="1">
                <a:solidFill>
                  <a:srgbClr val="F8FAFC"/>
                </a:solidFill>
                <a:latin typeface="Trebuchet MS"/>
              </a:defRPr>
            </a:pPr>
            <a:r>
              <a:t>• Total Annual Spend Generated</a:t>
            </a:r>
          </a:p>
          <a:p>
            <a:pPr>
              <a:defRPr sz="950">
                <a:solidFill>
                  <a:srgbClr val="94A3B8"/>
                </a:solidFill>
                <a:latin typeface="Calibri"/>
              </a:defRPr>
            </a:pPr>
            <a:r>
              <a:t>₹ 75.00 Crore across 2,500 accounts</a:t>
            </a:r>
          </a:p>
        </p:txBody>
      </p:sp>
      <p:sp>
        <p:nvSpPr>
          <p:cNvPr id="8" name="Rounded Rectangle 7"/>
          <p:cNvSpPr/>
          <p:nvPr/>
        </p:nvSpPr>
        <p:spPr>
          <a:xfrm>
            <a:off x="6217920" y="1280160"/>
            <a:ext cx="5212080" cy="5029200"/>
          </a:xfrm>
          <a:prstGeom prst="roundRect">
            <a:avLst/>
          </a:prstGeom>
          <a:solidFill>
            <a:srgbClr val="0E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371600"/>
            <a:ext cx="4846320" cy="4754880"/>
          </a:xfrm>
          <a:prstGeom prst="rect">
            <a:avLst/>
          </a:prstGeom>
          <a:noFill/>
        </p:spPr>
        <p:txBody>
          <a:bodyPr wrap="square">
            <a:spAutoFit/>
          </a:bodyPr>
          <a:lstStyle/>
          <a:p>
            <a:pPr>
              <a:defRPr sz="1000" b="1">
                <a:solidFill>
                  <a:srgbClr val="64748B"/>
                </a:solidFill>
                <a:latin typeface="Consolas"/>
              </a:defRPr>
            </a:pPr>
            <a:r>
              <a:t>PROJECTED ANNUAL PORTFOLIO REVENUE</a:t>
            </a:r>
          </a:p>
          <a:p>
            <a:pPr>
              <a:spcBef>
                <a:spcPts val="400"/>
              </a:spcBef>
              <a:defRPr sz="3800" b="1">
                <a:solidFill>
                  <a:srgbClr val="10B981"/>
                </a:solidFill>
                <a:latin typeface="Trebuchet MS"/>
              </a:defRPr>
            </a:pPr>
            <a:r>
              <a:t>₹ 16.88 Crore</a:t>
            </a:r>
          </a:p>
          <a:p>
            <a:pPr>
              <a:spcBef>
                <a:spcPts val="1600"/>
              </a:spcBef>
              <a:defRPr sz="1200" b="1">
                <a:solidFill>
                  <a:srgbClr val="F8FAFC"/>
                </a:solidFill>
                <a:latin typeface="Trebuchet MS"/>
              </a:defRPr>
            </a:pPr>
            <a:r>
              <a:t>Annual Revenue Breakdown:</a:t>
            </a:r>
          </a:p>
          <a:p>
            <a:pPr>
              <a:spcBef>
                <a:spcPts val="600"/>
              </a:spcBef>
              <a:defRPr sz="1100" b="1">
                <a:solidFill>
                  <a:srgbClr val="F59E0B"/>
                </a:solidFill>
                <a:latin typeface="Calibri"/>
              </a:defRPr>
            </a:pPr>
            <a:r>
              <a:t>• Interchange Fee Revenue: ₹ 13.13 Cr (77.8% of Total)</a:t>
            </a:r>
          </a:p>
          <a:p>
            <a:pPr>
              <a:spcBef>
                <a:spcPts val="600"/>
              </a:spcBef>
              <a:defRPr sz="1100" b="1">
                <a:solidFill>
                  <a:srgbClr val="F43F5E"/>
                </a:solidFill>
                <a:latin typeface="Calibri"/>
              </a:defRPr>
            </a:pPr>
            <a:r>
              <a:t>• Annual Membership Fees: ₹ 3.75 Cr (22.2% of Total)</a:t>
            </a:r>
          </a:p>
          <a:p>
            <a:pPr>
              <a:spcBef>
                <a:spcPts val="1400"/>
              </a:spcBef>
              <a:defRPr sz="950">
                <a:solidFill>
                  <a:srgbClr val="94A3B8"/>
                </a:solidFill>
                <a:latin typeface="Calibri"/>
              </a:defRPr>
            </a:pPr>
            <a:r>
              <a:t>Sensitivity: A +10% increase in average monthly spend (to ₹27.5k) adds ₹1.31 Cr in net interchange revenue with zero incremental marketing cost.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a:spAutoFit/>
          </a:bodyPr>
          <a:lstStyle/>
          <a:p>
            <a:pPr>
              <a:defRPr sz="1000" b="1">
                <a:solidFill>
                  <a:srgbClr val="F59E0B"/>
                </a:solidFill>
                <a:latin typeface="Consolas"/>
              </a:defRPr>
            </a:pPr>
            <a:r>
              <a:t>ACTIONABLE EXECUTION PLAN</a:t>
            </a:r>
          </a:p>
        </p:txBody>
      </p:sp>
      <p:sp>
        <p:nvSpPr>
          <p:cNvPr id="4" name="TextBox 3"/>
          <p:cNvSpPr txBox="1"/>
          <p:nvPr/>
        </p:nvSpPr>
        <p:spPr>
          <a:xfrm>
            <a:off x="731520" y="640080"/>
            <a:ext cx="8686800" cy="594360"/>
          </a:xfrm>
          <a:prstGeom prst="rect">
            <a:avLst/>
          </a:prstGeom>
          <a:noFill/>
        </p:spPr>
        <p:txBody>
          <a:bodyPr wrap="square">
            <a:spAutoFit/>
          </a:bodyPr>
          <a:lstStyle/>
          <a:p>
            <a:pPr>
              <a:defRPr sz="2200" b="1">
                <a:solidFill>
                  <a:srgbClr val="F8FAFC"/>
                </a:solidFill>
                <a:latin typeface="Trebuchet MS"/>
              </a:defRPr>
            </a:pPr>
            <a:r>
              <a:t>Executive Next Steps &amp; Phased Rollout</a:t>
            </a:r>
          </a:p>
        </p:txBody>
      </p:sp>
      <p:sp>
        <p:nvSpPr>
          <p:cNvPr id="5" name="TextBox 4"/>
          <p:cNvSpPr txBox="1"/>
          <p:nvPr/>
        </p:nvSpPr>
        <p:spPr>
          <a:xfrm>
            <a:off x="8961120" y="365760"/>
            <a:ext cx="2468880" cy="411480"/>
          </a:xfrm>
          <a:prstGeom prst="rect">
            <a:avLst/>
          </a:prstGeom>
          <a:noFill/>
        </p:spPr>
        <p:txBody>
          <a:bodyPr wrap="none">
            <a:spAutoFit/>
          </a:bodyPr>
          <a:lstStyle/>
          <a:p>
            <a:pPr algn="r">
              <a:defRPr sz="900" b="1">
                <a:solidFill>
                  <a:srgbClr val="38BDF8"/>
                </a:solidFill>
                <a:latin typeface="Consolas"/>
              </a:defRPr>
            </a:pPr>
            <a:r>
              <a:t>MITRON BANK • CXO EXECUTIVE STRATEGY</a:t>
            </a:r>
          </a:p>
        </p:txBody>
      </p:sp>
      <p:sp>
        <p:nvSpPr>
          <p:cNvPr id="6" name="Rounded Rectangle 5"/>
          <p:cNvSpPr/>
          <p:nvPr/>
        </p:nvSpPr>
        <p:spPr>
          <a:xfrm>
            <a:off x="731520" y="1280160"/>
            <a:ext cx="2560320" cy="41148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71600"/>
            <a:ext cx="2286000" cy="3840480"/>
          </a:xfrm>
          <a:prstGeom prst="rect">
            <a:avLst/>
          </a:prstGeom>
          <a:noFill/>
        </p:spPr>
        <p:txBody>
          <a:bodyPr wrap="square">
            <a:spAutoFit/>
          </a:bodyPr>
          <a:lstStyle/>
          <a:p>
            <a:pPr>
              <a:defRPr sz="2000" b="1">
                <a:solidFill>
                  <a:srgbClr val="F59E0B"/>
                </a:solidFill>
                <a:latin typeface="Consolas"/>
              </a:defRPr>
            </a:pPr>
            <a:r>
              <a:t>01</a:t>
            </a:r>
          </a:p>
          <a:p>
            <a:pPr>
              <a:spcBef>
                <a:spcPts val="600"/>
              </a:spcBef>
              <a:defRPr sz="1300" b="1">
                <a:solidFill>
                  <a:srgbClr val="F8FAFC"/>
                </a:solidFill>
                <a:latin typeface="Trebuchet MS"/>
              </a:defRPr>
            </a:pPr>
            <a:r>
              <a:t>Phase 1: Product Approval</a:t>
            </a:r>
          </a:p>
          <a:p>
            <a:pPr>
              <a:spcBef>
                <a:spcPts val="400"/>
              </a:spcBef>
              <a:defRPr sz="850">
                <a:solidFill>
                  <a:srgbClr val="F59E0B"/>
                </a:solidFill>
                <a:latin typeface="Consolas"/>
              </a:defRPr>
            </a:pPr>
            <a:r>
              <a:t>Month 1 • Product Committee</a:t>
            </a:r>
          </a:p>
          <a:p>
            <a:pPr>
              <a:spcBef>
                <a:spcPts val="1000"/>
              </a:spcBef>
              <a:defRPr sz="950">
                <a:solidFill>
                  <a:srgbClr val="94A3B8"/>
                </a:solidFill>
                <a:latin typeface="Calibri"/>
              </a:defRPr>
            </a:pPr>
            <a:r>
              <a:t>Finalize terms, co-brand merchant partnerships (groceries, airlines), and interchange pricing.</a:t>
            </a:r>
          </a:p>
        </p:txBody>
      </p:sp>
      <p:sp>
        <p:nvSpPr>
          <p:cNvPr id="8" name="Rounded Rectangle 7"/>
          <p:cNvSpPr/>
          <p:nvPr/>
        </p:nvSpPr>
        <p:spPr>
          <a:xfrm>
            <a:off x="3456432" y="1280160"/>
            <a:ext cx="2560320" cy="41148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3592" y="1371600"/>
            <a:ext cx="2286000" cy="3840480"/>
          </a:xfrm>
          <a:prstGeom prst="rect">
            <a:avLst/>
          </a:prstGeom>
          <a:noFill/>
        </p:spPr>
        <p:txBody>
          <a:bodyPr wrap="square">
            <a:spAutoFit/>
          </a:bodyPr>
          <a:lstStyle/>
          <a:p>
            <a:pPr>
              <a:defRPr sz="2000" b="1">
                <a:solidFill>
                  <a:srgbClr val="38BDF8"/>
                </a:solidFill>
                <a:latin typeface="Consolas"/>
              </a:defRPr>
            </a:pPr>
            <a:r>
              <a:t>02</a:t>
            </a:r>
          </a:p>
          <a:p>
            <a:pPr>
              <a:spcBef>
                <a:spcPts val="600"/>
              </a:spcBef>
              <a:defRPr sz="1300" b="1">
                <a:solidFill>
                  <a:srgbClr val="F8FAFC"/>
                </a:solidFill>
                <a:latin typeface="Trebuchet MS"/>
              </a:defRPr>
            </a:pPr>
            <a:r>
              <a:t>Phase 2: Core Banking Setup</a:t>
            </a:r>
          </a:p>
          <a:p>
            <a:pPr>
              <a:spcBef>
                <a:spcPts val="400"/>
              </a:spcBef>
              <a:defRPr sz="850">
                <a:solidFill>
                  <a:srgbClr val="38BDF8"/>
                </a:solidFill>
                <a:latin typeface="Consolas"/>
              </a:defRPr>
            </a:pPr>
            <a:r>
              <a:t>Month 2–3 • IT &amp; Risk</a:t>
            </a:r>
          </a:p>
          <a:p>
            <a:pPr>
              <a:spcBef>
                <a:spcPts val="1000"/>
              </a:spcBef>
              <a:defRPr sz="950">
                <a:solidFill>
                  <a:srgbClr val="94A3B8"/>
                </a:solidFill>
                <a:latin typeface="Calibri"/>
              </a:defRPr>
            </a:pPr>
            <a:r>
              <a:t>Integrate credit underwriting engine, KYC APIs, and credit limit sanction models.</a:t>
            </a:r>
          </a:p>
        </p:txBody>
      </p:sp>
      <p:sp>
        <p:nvSpPr>
          <p:cNvPr id="10" name="Rounded Rectangle 9"/>
          <p:cNvSpPr/>
          <p:nvPr/>
        </p:nvSpPr>
        <p:spPr>
          <a:xfrm>
            <a:off x="6181344" y="1280160"/>
            <a:ext cx="2560320" cy="41148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1371600"/>
            <a:ext cx="2286000" cy="3840480"/>
          </a:xfrm>
          <a:prstGeom prst="rect">
            <a:avLst/>
          </a:prstGeom>
          <a:noFill/>
        </p:spPr>
        <p:txBody>
          <a:bodyPr wrap="square">
            <a:spAutoFit/>
          </a:bodyPr>
          <a:lstStyle/>
          <a:p>
            <a:pPr>
              <a:defRPr sz="2000" b="1">
                <a:solidFill>
                  <a:srgbClr val="10B981"/>
                </a:solidFill>
                <a:latin typeface="Consolas"/>
              </a:defRPr>
            </a:pPr>
            <a:r>
              <a:t>03</a:t>
            </a:r>
          </a:p>
          <a:p>
            <a:pPr>
              <a:spcBef>
                <a:spcPts val="600"/>
              </a:spcBef>
              <a:defRPr sz="1300" b="1">
                <a:solidFill>
                  <a:srgbClr val="F8FAFC"/>
                </a:solidFill>
                <a:latin typeface="Trebuchet MS"/>
              </a:defRPr>
            </a:pPr>
            <a:r>
              <a:t>Phase 3: BI &amp; Model Deployment</a:t>
            </a:r>
          </a:p>
          <a:p>
            <a:pPr>
              <a:spcBef>
                <a:spcPts val="400"/>
              </a:spcBef>
              <a:defRPr sz="850">
                <a:solidFill>
                  <a:srgbClr val="10B981"/>
                </a:solidFill>
                <a:latin typeface="Consolas"/>
              </a:defRPr>
            </a:pPr>
            <a:r>
              <a:t>Month 3 • Data Analytics</a:t>
            </a:r>
          </a:p>
          <a:p>
            <a:pPr>
              <a:spcBef>
                <a:spcPts val="1000"/>
              </a:spcBef>
              <a:defRPr sz="950">
                <a:solidFill>
                  <a:srgbClr val="94A3B8"/>
                </a:solidFill>
                <a:latin typeface="Calibri"/>
              </a:defRPr>
            </a:pPr>
            <a:r>
              <a:t>Deploy Power BI star schema model to Power BI Service with RLS, scheduled refresh &amp; monitoring.</a:t>
            </a:r>
          </a:p>
        </p:txBody>
      </p:sp>
      <p:sp>
        <p:nvSpPr>
          <p:cNvPr id="12" name="Rounded Rectangle 11"/>
          <p:cNvSpPr/>
          <p:nvPr/>
        </p:nvSpPr>
        <p:spPr>
          <a:xfrm>
            <a:off x="8906256" y="1280160"/>
            <a:ext cx="2560320" cy="4114800"/>
          </a:xfrm>
          <a:prstGeom prst="roundRect">
            <a:avLst/>
          </a:prstGeom>
          <a:solidFill>
            <a:srgbClr val="0E1424"/>
          </a:solidFill>
          <a:ln w="12700">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43416" y="1371600"/>
            <a:ext cx="2286000" cy="3840480"/>
          </a:xfrm>
          <a:prstGeom prst="rect">
            <a:avLst/>
          </a:prstGeom>
          <a:noFill/>
        </p:spPr>
        <p:txBody>
          <a:bodyPr wrap="square">
            <a:spAutoFit/>
          </a:bodyPr>
          <a:lstStyle/>
          <a:p>
            <a:pPr>
              <a:defRPr sz="2000" b="1">
                <a:solidFill>
                  <a:srgbClr val="A855F7"/>
                </a:solidFill>
                <a:latin typeface="Consolas"/>
              </a:defRPr>
            </a:pPr>
            <a:r>
              <a:t>04</a:t>
            </a:r>
          </a:p>
          <a:p>
            <a:pPr>
              <a:spcBef>
                <a:spcPts val="600"/>
              </a:spcBef>
              <a:defRPr sz="1300" b="1">
                <a:solidFill>
                  <a:srgbClr val="F8FAFC"/>
                </a:solidFill>
                <a:latin typeface="Trebuchet MS"/>
              </a:defRPr>
            </a:pPr>
            <a:r>
              <a:t>Phase 4: Pilot Market Launch</a:t>
            </a:r>
          </a:p>
          <a:p>
            <a:pPr>
              <a:spcBef>
                <a:spcPts val="400"/>
              </a:spcBef>
              <a:defRPr sz="850">
                <a:solidFill>
                  <a:srgbClr val="A855F7"/>
                </a:solidFill>
                <a:latin typeface="Consolas"/>
              </a:defRPr>
            </a:pPr>
            <a:r>
              <a:t>Month 4 • Growth &amp; Marketing</a:t>
            </a:r>
          </a:p>
          <a:p>
            <a:pPr>
              <a:spcBef>
                <a:spcPts val="1000"/>
              </a:spcBef>
              <a:defRPr sz="950">
                <a:solidFill>
                  <a:srgbClr val="94A3B8"/>
                </a:solidFill>
                <a:latin typeface="Calibri"/>
              </a:defRPr>
            </a:pPr>
            <a:r>
              <a:t>Pre-approved card rollout to high-propensity Salaried IT customers in Mumbai &amp; Delhi NCR.</a:t>
            </a:r>
          </a:p>
        </p:txBody>
      </p:sp>
      <p:sp>
        <p:nvSpPr>
          <p:cNvPr id="14" name="Rounded Rectangle 13"/>
          <p:cNvSpPr/>
          <p:nvPr/>
        </p:nvSpPr>
        <p:spPr>
          <a:xfrm>
            <a:off x="731520" y="5577840"/>
            <a:ext cx="10728655" cy="731520"/>
          </a:xfrm>
          <a:prstGeom prst="roundRect">
            <a:avLst/>
          </a:prstGeom>
          <a:solidFill>
            <a:srgbClr val="0E192D"/>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23560"/>
            <a:ext cx="10332720" cy="640080"/>
          </a:xfrm>
          <a:prstGeom prst="rect">
            <a:avLst/>
          </a:prstGeom>
          <a:noFill/>
        </p:spPr>
        <p:txBody>
          <a:bodyPr wrap="none">
            <a:spAutoFit/>
          </a:bodyPr>
          <a:lstStyle/>
          <a:p>
            <a:pPr algn="ctr">
              <a:defRPr sz="1000" b="1">
                <a:solidFill>
                  <a:srgbClr val="F59E0B"/>
                </a:solidFill>
                <a:latin typeface="Consolas"/>
              </a:defRPr>
            </a:pPr>
            <a:r>
              <a:t>Prepared by AtliQ Data Services • Approved for Executive Committee Review • Dataset &amp; Verification 100% Validated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