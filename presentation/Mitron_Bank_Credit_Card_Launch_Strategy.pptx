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5715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120">
                <a:solidFill>
                  <a:srgbClr val="D9A857"/>
                </a:solidFill>
                <a:latin typeface="IBM Plex Sans"/>
              </a:rPr>
              <a:t>MITRON BANK · CREDIT CARD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206500"/>
            <a:ext cx="7239000" cy="165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4800" b="0">
                <a:solidFill>
                  <a:srgbClr val="F8F6F1"/>
                </a:solidFill>
                <a:latin typeface="Source Serif 4"/>
              </a:rPr>
              <a:t>A card portfolio built on where the money already moves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2984500"/>
            <a:ext cx="5715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B9C2D6"/>
                </a:solidFill>
                <a:latin typeface="IBM Plex Sans"/>
              </a:rPr>
              <a:t>Six months of transaction data across 4,000 customers and ₹530.9M in spend point to three distinct card propositions, and the order to launch them 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" y="5969000"/>
            <a:ext cx="4445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9C2D6"/>
                </a:solidFill>
                <a:latin typeface="IBM Plex Sans"/>
              </a:rPr>
              <a:t>Prepared for the Executive Committee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90000" y="5969000"/>
            <a:ext cx="24892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D9A857"/>
                </a:solidFill>
                <a:latin typeface="IBM Plex Sans"/>
              </a:rPr>
              <a:t>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5715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120">
                <a:solidFill>
                  <a:srgbClr val="7A5A1E"/>
                </a:solidFill>
                <a:latin typeface="IBM Plex Sans"/>
              </a:rP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066800"/>
            <a:ext cx="952500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0E1F33"/>
                </a:solidFill>
                <a:latin typeface="Source Serif 4"/>
              </a:rPr>
              <a:t>The portfolio is already telling us who spends, and how much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44" y="22860"/>
            <a:ext cx="23241" cy="1492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3327" y="22860"/>
            <a:ext cx="23241" cy="1492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010" y="22860"/>
            <a:ext cx="23241" cy="1492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8693" y="22860"/>
            <a:ext cx="23241" cy="14922"/>
          </a:xfrm>
          <a:prstGeom prst="roundRect">
            <a:avLst>
              <a:gd name="adj" fmla="val 6000"/>
            </a:avLst>
          </a:prstGeom>
          <a:solidFill>
            <a:srgbClr val="0E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44" y="24447"/>
            <a:ext cx="21336" cy="5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E1F33"/>
                </a:solidFill>
                <a:latin typeface="Source Serif 4"/>
              </a:rPr>
              <a:t>4,000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44" y="30162"/>
            <a:ext cx="21336" cy="5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4A5568"/>
                </a:solidFill>
                <a:latin typeface="IBM Plex Sans"/>
              </a:rPr>
              <a:t>customers, 864,000 transactions tracked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27" y="24447"/>
            <a:ext cx="21336" cy="5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E1F33"/>
                </a:solidFill>
                <a:latin typeface="Source Serif 4"/>
              </a:rPr>
              <a:t>₹88.48M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27" y="30162"/>
            <a:ext cx="21336" cy="5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4A5568"/>
                </a:solidFill>
                <a:latin typeface="IBM Plex Sans"/>
              </a:rPr>
              <a:t>average monthly spend, portfolio-wide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010" y="24447"/>
            <a:ext cx="21336" cy="5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E1F33"/>
                </a:solidFill>
                <a:latin typeface="Source Serif 4"/>
              </a:rPr>
              <a:t>₹206.63M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010" y="30162"/>
            <a:ext cx="21336" cy="5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4A5568"/>
                </a:solidFill>
                <a:latin typeface="IBM Plex Sans"/>
              </a:rPr>
              <a:t>average monthly income, portfolio-wide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693" y="24447"/>
            <a:ext cx="21336" cy="5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D9A857"/>
                </a:solidFill>
                <a:latin typeface="Source Serif 4"/>
              </a:rPr>
              <a:t>42.82%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693" y="30162"/>
            <a:ext cx="21336" cy="5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B9C2D6"/>
                </a:solidFill>
                <a:latin typeface="IBM Plex Sans"/>
              </a:rPr>
              <a:t>of income the portfolio already spends monthly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800" y="37465"/>
            <a:ext cx="6159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0E1F33"/>
                </a:solidFill>
                <a:latin typeface="IBM Plex Sans"/>
              </a:rPr>
              <a:t>Retail banking growth starts with the credit line, and the data already shows where to point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" y="6451600"/>
            <a:ext cx="6350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A7179"/>
                </a:solidFill>
                <a:latin typeface="IBM Plex Sans"/>
              </a:rPr>
              <a:t>Source: dim_customers.csv × fact_spends.csv — 6-month window (May–Oct)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41000" y="6451600"/>
            <a:ext cx="8382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A7179"/>
                </a:solidFill>
                <a:latin typeface="IBM Plex San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5715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120">
                <a:solidFill>
                  <a:srgbClr val="7A5A1E"/>
                </a:solidFill>
                <a:latin typeface="IBM Plex Sans"/>
              </a:rPr>
              <a:t>TENSION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066800"/>
            <a:ext cx="952500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0E1F33"/>
                </a:solidFill>
                <a:latin typeface="Source Serif 4"/>
              </a:rPr>
              <a:t>One card will not fit a portfolio this spread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1595120"/>
            <a:ext cx="857250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4A5568"/>
                </a:solidFill>
                <a:latin typeface="IBM Plex Sans"/>
              </a:rPr>
              <a:t>Income utilization, the share of monthly income customers already spend, swings by more than 20 points across cities.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44" y="24638"/>
            <a:ext cx="9842" cy="19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2233"/>
                </a:solidFill>
                <a:latin typeface="IBM Plex Sans"/>
              </a:rPr>
              <a:t>Mumbai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39" y="24765"/>
            <a:ext cx="27305" cy="139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D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6439" y="24765"/>
            <a:ext cx="25393" cy="1397"/>
          </a:xfrm>
          <a:prstGeom prst="roundRect">
            <a:avLst>
              <a:gd name="adj" fmla="val 50000"/>
            </a:avLst>
          </a:prstGeom>
          <a:solidFill>
            <a:srgbClr val="7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696" y="24638"/>
            <a:ext cx="4762" cy="19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0">
                <a:solidFill>
                  <a:srgbClr val="1A2233"/>
                </a:solidFill>
                <a:latin typeface="IBM Plex Sans"/>
              </a:rPr>
              <a:t>51.4%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44" y="27813"/>
            <a:ext cx="9842" cy="19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2233"/>
                </a:solidFill>
                <a:latin typeface="IBM Plex Sans"/>
              </a:rPr>
              <a:t>Delhi NCR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439" y="27940"/>
            <a:ext cx="27305" cy="139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D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6439" y="27940"/>
            <a:ext cx="23755" cy="1397"/>
          </a:xfrm>
          <a:prstGeom prst="roundRect">
            <a:avLst>
              <a:gd name="adj" fmla="val 50000"/>
            </a:avLst>
          </a:prstGeom>
          <a:solidFill>
            <a:srgbClr val="7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696" y="27813"/>
            <a:ext cx="4762" cy="19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0">
                <a:solidFill>
                  <a:srgbClr val="1A2233"/>
                </a:solidFill>
                <a:latin typeface="IBM Plex Sans"/>
              </a:rPr>
              <a:t>48.0%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44" y="30988"/>
            <a:ext cx="9842" cy="19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2233"/>
                </a:solidFill>
                <a:latin typeface="IBM Plex Sans"/>
              </a:rPr>
              <a:t>Bengaluru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439" y="31115"/>
            <a:ext cx="27305" cy="139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D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6439" y="31115"/>
            <a:ext cx="21570" cy="1397"/>
          </a:xfrm>
          <a:prstGeom prst="roundRect">
            <a:avLst>
              <a:gd name="adj" fmla="val 50000"/>
            </a:avLst>
          </a:prstGeom>
          <a:solidFill>
            <a:srgbClr val="7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96" y="30988"/>
            <a:ext cx="4762" cy="19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0">
                <a:solidFill>
                  <a:srgbClr val="1A2233"/>
                </a:solidFill>
                <a:latin typeface="IBM Plex Sans"/>
              </a:rPr>
              <a:t>43.5%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44" y="34163"/>
            <a:ext cx="9842" cy="19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2233"/>
                </a:solidFill>
                <a:latin typeface="IBM Plex Sans"/>
              </a:rPr>
              <a:t>Hyderabad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439" y="34290"/>
            <a:ext cx="27305" cy="139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D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6439" y="34290"/>
            <a:ext cx="18021" cy="1397"/>
          </a:xfrm>
          <a:prstGeom prst="roundRect">
            <a:avLst>
              <a:gd name="adj" fmla="val 50000"/>
            </a:avLst>
          </a:prstGeom>
          <a:solidFill>
            <a:srgbClr val="7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96" y="34163"/>
            <a:ext cx="4762" cy="19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0">
                <a:solidFill>
                  <a:srgbClr val="1A2233"/>
                </a:solidFill>
                <a:latin typeface="IBM Plex Sans"/>
              </a:rPr>
              <a:t>36.3%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44" y="37338"/>
            <a:ext cx="9842" cy="19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2233"/>
                </a:solidFill>
                <a:latin typeface="IBM Plex Sans"/>
              </a:rPr>
              <a:t>Chennai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6439" y="37465"/>
            <a:ext cx="27305" cy="139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D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6439" y="37465"/>
            <a:ext cx="15563" cy="1397"/>
          </a:xfrm>
          <a:prstGeom prst="roundRect">
            <a:avLst>
              <a:gd name="adj" fmla="val 50000"/>
            </a:avLst>
          </a:prstGeom>
          <a:solidFill>
            <a:srgbClr val="7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696" y="37338"/>
            <a:ext cx="4762" cy="19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0">
                <a:solidFill>
                  <a:srgbClr val="1A2233"/>
                </a:solidFill>
                <a:latin typeface="IBM Plex Sans"/>
              </a:rPr>
              <a:t>31.1%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212" y="23812"/>
            <a:ext cx="29209" cy="16510"/>
          </a:xfrm>
          <a:prstGeom prst="roundRect">
            <a:avLst>
              <a:gd name="adj" fmla="val 6000"/>
            </a:avLst>
          </a:prstGeom>
          <a:solidFill>
            <a:srgbClr val="0E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117" y="25273"/>
            <a:ext cx="254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120">
                <a:solidFill>
                  <a:srgbClr val="D9A857"/>
                </a:solidFill>
                <a:latin typeface="IBM Plex Sans"/>
              </a:rPr>
              <a:t>LOWEST OF ANY SEGMENT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117" y="27304"/>
            <a:ext cx="254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F8F6F1"/>
                </a:solidFill>
                <a:latin typeface="Source Serif 4"/>
              </a:rPr>
              <a:t>29.63%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117" y="32385"/>
            <a:ext cx="25400" cy="69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B9C2D6"/>
                </a:solidFill>
                <a:latin typeface="IBM Plex Sans"/>
              </a:rPr>
              <a:t>Upper Class customers, avg income ≥ ₹80,000, utilize even less than Chennai, 13 points below the portfolio average.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2800" y="6451600"/>
            <a:ext cx="6350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A7179"/>
                </a:solidFill>
                <a:latin typeface="IBM Plex Sans"/>
              </a:rPr>
              <a:t>Source: City-level utilization, fact_spends.csv × dim_customers.csv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41000" y="6451600"/>
            <a:ext cx="8382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A7179"/>
                </a:solidFill>
                <a:latin typeface="IBM Plex San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5715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120">
                <a:solidFill>
                  <a:srgbClr val="7A5A1E"/>
                </a:solidFill>
                <a:latin typeface="IBM Plex Sans"/>
              </a:rPr>
              <a:t>INSIGHT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066800"/>
            <a:ext cx="952500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0E1F33"/>
                </a:solidFill>
                <a:latin typeface="Source Serif 4"/>
              </a:rPr>
              <a:t>Metro IT professionals are already living on credit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1595120"/>
            <a:ext cx="857250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4A5568"/>
                </a:solidFill>
                <a:latin typeface="IBM Plex Sans"/>
              </a:rPr>
              <a:t>Salaried IT employees post the highest income utilization of any occupation, and Mumbai leads every city.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44" y="23812"/>
            <a:ext cx="29209" cy="17462"/>
          </a:xfrm>
          <a:prstGeom prst="roundRect">
            <a:avLst>
              <a:gd name="adj" fmla="val 6000"/>
            </a:avLst>
          </a:prstGeom>
          <a:solidFill>
            <a:srgbClr val="0E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49" y="26352"/>
            <a:ext cx="254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>
                <a:solidFill>
                  <a:srgbClr val="D9A857"/>
                </a:solidFill>
                <a:latin typeface="Source Serif 4"/>
              </a:rPr>
              <a:t>51.04%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9" y="31432"/>
            <a:ext cx="25400" cy="8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B9C2D6"/>
                </a:solidFill>
                <a:latin typeface="IBM Plex Sans"/>
              </a:rPr>
              <a:t>Salaried IT employees, the highest utilization of any occupation, ₹40.62M monthly spend across 1,294 customers.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242" y="24638"/>
            <a:ext cx="12065" cy="19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2233"/>
                </a:solidFill>
                <a:latin typeface="IBM Plex Sans"/>
              </a:rPr>
              <a:t>Salaried 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260" y="24765"/>
            <a:ext cx="24764" cy="139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D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8260" y="24765"/>
            <a:ext cx="23031" cy="1397"/>
          </a:xfrm>
          <a:prstGeom prst="roundRect">
            <a:avLst>
              <a:gd name="adj" fmla="val 50000"/>
            </a:avLst>
          </a:prstGeom>
          <a:solidFill>
            <a:srgbClr val="7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977" y="24638"/>
            <a:ext cx="4762" cy="19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0">
                <a:solidFill>
                  <a:srgbClr val="1A2233"/>
                </a:solidFill>
                <a:latin typeface="IBM Plex Sans"/>
              </a:rPr>
              <a:t>51.0%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42" y="27813"/>
            <a:ext cx="12065" cy="19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2233"/>
                </a:solidFill>
                <a:latin typeface="IBM Plex Sans"/>
              </a:rPr>
              <a:t>Freelancers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260" y="27940"/>
            <a:ext cx="24764" cy="139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D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8260" y="27940"/>
            <a:ext cx="20554" cy="1397"/>
          </a:xfrm>
          <a:prstGeom prst="roundRect">
            <a:avLst>
              <a:gd name="adj" fmla="val 50000"/>
            </a:avLst>
          </a:prstGeom>
          <a:solidFill>
            <a:srgbClr val="7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977" y="27813"/>
            <a:ext cx="4762" cy="19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0">
                <a:solidFill>
                  <a:srgbClr val="1A2233"/>
                </a:solidFill>
                <a:latin typeface="IBM Plex Sans"/>
              </a:rPr>
              <a:t>45.8%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42" y="30988"/>
            <a:ext cx="12065" cy="19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2233"/>
                </a:solidFill>
                <a:latin typeface="IBM Plex Sans"/>
              </a:rPr>
              <a:t>Salaried, other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260" y="31115"/>
            <a:ext cx="24764" cy="139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D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260" y="31115"/>
            <a:ext cx="19069" cy="1397"/>
          </a:xfrm>
          <a:prstGeom prst="roundRect">
            <a:avLst>
              <a:gd name="adj" fmla="val 50000"/>
            </a:avLst>
          </a:prstGeom>
          <a:solidFill>
            <a:srgbClr val="7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977" y="30988"/>
            <a:ext cx="4762" cy="19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0">
                <a:solidFill>
                  <a:srgbClr val="1A2233"/>
                </a:solidFill>
                <a:latin typeface="IBM Plex Sans"/>
              </a:rPr>
              <a:t>42.1%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42" y="34163"/>
            <a:ext cx="12065" cy="19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2233"/>
                </a:solidFill>
                <a:latin typeface="IBM Plex Sans"/>
              </a:rPr>
              <a:t>Business owners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260" y="34290"/>
            <a:ext cx="24764" cy="139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D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260" y="34290"/>
            <a:ext cx="14858" cy="1397"/>
          </a:xfrm>
          <a:prstGeom prst="roundRect">
            <a:avLst>
              <a:gd name="adj" fmla="val 50000"/>
            </a:avLst>
          </a:prstGeom>
          <a:solidFill>
            <a:srgbClr val="7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977" y="34163"/>
            <a:ext cx="4762" cy="19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0">
                <a:solidFill>
                  <a:srgbClr val="1A2233"/>
                </a:solidFill>
                <a:latin typeface="IBM Plex Sans"/>
              </a:rPr>
              <a:t>33.2%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42" y="37338"/>
            <a:ext cx="12065" cy="19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2233"/>
                </a:solidFill>
                <a:latin typeface="IBM Plex Sans"/>
              </a:rPr>
              <a:t>Government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260" y="37465"/>
            <a:ext cx="24764" cy="139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D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8260" y="37465"/>
            <a:ext cx="13125" cy="1397"/>
          </a:xfrm>
          <a:prstGeom prst="roundRect">
            <a:avLst>
              <a:gd name="adj" fmla="val 50000"/>
            </a:avLst>
          </a:prstGeom>
          <a:solidFill>
            <a:srgbClr val="7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977" y="37338"/>
            <a:ext cx="4762" cy="19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0">
                <a:solidFill>
                  <a:srgbClr val="1A2233"/>
                </a:solidFill>
                <a:latin typeface="IBM Plex Sans"/>
              </a:rPr>
              <a:t>29.0%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2800" y="6451600"/>
            <a:ext cx="6350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A7179"/>
                </a:solidFill>
                <a:latin typeface="IBM Plex Sans"/>
              </a:rPr>
              <a:t>Source: Occupation-level utilization, fact_spends.csv × dim_customers.csv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41000" y="6451600"/>
            <a:ext cx="8382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A7179"/>
                </a:solidFill>
                <a:latin typeface="IBM Plex San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5715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120">
                <a:solidFill>
                  <a:srgbClr val="7A5A1E"/>
                </a:solidFill>
                <a:latin typeface="IBM Plex Sans"/>
              </a:rPr>
              <a:t>INSIGHT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066800"/>
            <a:ext cx="952500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0E1F33"/>
                </a:solidFill>
                <a:latin typeface="Source Serif 4"/>
              </a:rPr>
              <a:t>Spending peaks mid-career, not at the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1595120"/>
            <a:ext cx="857250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4A5568"/>
                </a:solidFill>
                <a:latin typeface="IBM Plex Sans"/>
              </a:rPr>
              <a:t>Utilization climbs through the 30s and 40s, then eases as customers shift toward a savings mindset.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60" y="30314"/>
            <a:ext cx="9842" cy="10325"/>
          </a:xfrm>
          <a:prstGeom prst="roundRect">
            <a:avLst>
              <a:gd name="adj" fmla="val 8000"/>
            </a:avLst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90" y="27647"/>
            <a:ext cx="12382" cy="22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1F33"/>
                </a:solidFill>
                <a:latin typeface="IBM Plex Sans"/>
              </a:rPr>
              <a:t>40.6%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90" y="41148"/>
            <a:ext cx="12382" cy="25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4A5568"/>
                </a:solidFill>
                <a:latin typeface="IBM Plex Sans"/>
              </a:rPr>
              <a:t>21–24 years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495" y="29540"/>
            <a:ext cx="9842" cy="11099"/>
          </a:xfrm>
          <a:prstGeom prst="roundRect">
            <a:avLst>
              <a:gd name="adj" fmla="val 8000"/>
            </a:avLst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225" y="26873"/>
            <a:ext cx="12382" cy="22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1F33"/>
                </a:solidFill>
                <a:latin typeface="IBM Plex Sans"/>
              </a:rPr>
              <a:t>43.7%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225" y="41148"/>
            <a:ext cx="12382" cy="25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4A5568"/>
                </a:solidFill>
                <a:latin typeface="IBM Plex Sans"/>
              </a:rPr>
              <a:t>25–34 years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830" y="28778"/>
            <a:ext cx="9842" cy="11861"/>
          </a:xfrm>
          <a:prstGeom prst="roundRect">
            <a:avLst>
              <a:gd name="adj" fmla="val 8000"/>
            </a:avLst>
          </a:prstGeom>
          <a:solidFill>
            <a:srgbClr val="7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560" y="26111"/>
            <a:ext cx="12382" cy="22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7A5A1E"/>
                </a:solidFill>
                <a:latin typeface="Source Serif 4"/>
              </a:rPr>
              <a:t>46.7%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60" y="41148"/>
            <a:ext cx="12382" cy="25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0E1F33"/>
                </a:solidFill>
                <a:latin typeface="IBM Plex Sans"/>
              </a:rPr>
              <a:t>35–45 years (peak)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165" y="31826"/>
            <a:ext cx="9842" cy="8813"/>
          </a:xfrm>
          <a:prstGeom prst="roundRect">
            <a:avLst>
              <a:gd name="adj" fmla="val 8000"/>
            </a:avLst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895" y="29159"/>
            <a:ext cx="12382" cy="22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1F33"/>
                </a:solidFill>
                <a:latin typeface="IBM Plex Sans"/>
              </a:rPr>
              <a:t>34.7%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895" y="41148"/>
            <a:ext cx="12382" cy="25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4A5568"/>
                </a:solidFill>
                <a:latin typeface="IBM Plex Sans"/>
              </a:rPr>
              <a:t>45+ years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" y="6451600"/>
            <a:ext cx="6350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A7179"/>
                </a:solidFill>
                <a:latin typeface="IBM Plex Sans"/>
              </a:rPr>
              <a:t>Source: Age-band utilization, fact_spends.csv × dim_customers.csv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41000" y="6451600"/>
            <a:ext cx="8382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A7179"/>
                </a:solidFill>
                <a:latin typeface="IBM Plex San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79A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6985"/>
            <a:ext cx="84664" cy="25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spc="120">
                <a:solidFill>
                  <a:srgbClr val="0E1F33"/>
                </a:solidFill>
                <a:latin typeface="IBM Plex Sans"/>
              </a:rPr>
              <a:t>INSIGHT 03 — THE UPPER CLASS CLIFF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1112"/>
            <a:ext cx="84664" cy="12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0" b="1">
                <a:solidFill>
                  <a:srgbClr val="0E1F33"/>
                </a:solidFill>
                <a:latin typeface="Source Serif 4"/>
              </a:rPr>
              <a:t>29.63%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240" y="26352"/>
            <a:ext cx="53975" cy="88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700" b="0">
                <a:solidFill>
                  <a:srgbClr val="0E1F33"/>
                </a:solidFill>
                <a:latin typeface="IBM Plex Sans"/>
              </a:rPr>
              <a:t>is all that Upper Class customers utilize of their income, while Lower and Middle Class customers already spend about 43%. That gap is untapped disposable capacity, not disinterest.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" y="6451600"/>
            <a:ext cx="6350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0E1F33"/>
                </a:solidFill>
                <a:latin typeface="IBM Plex Sans"/>
              </a:rPr>
              <a:t>Source: Segment utilization, dim_customers.csv × fact_spends.csv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1000" y="6451600"/>
            <a:ext cx="8382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0E1F33"/>
                </a:solidFill>
                <a:latin typeface="IBM Plex San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5715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120">
                <a:solidFill>
                  <a:srgbClr val="7A5A1E"/>
                </a:solidFill>
                <a:latin typeface="IBM Plex Sans"/>
              </a:rPr>
              <a:t>IMPLICATION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066800"/>
            <a:ext cx="952500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0E1F33"/>
                </a:solidFill>
                <a:latin typeface="Source Serif 4"/>
              </a:rPr>
              <a:t>Three behaviors call for three card propositions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1595120"/>
            <a:ext cx="857250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4A5568"/>
                </a:solidFill>
                <a:latin typeface="IBM Plex Sans"/>
              </a:rPr>
              <a:t>Matching product design to how each segment already spends turns three data patterns into three acquisition engines.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44" y="24447"/>
          <a:ext cx="74611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399"/>
                <a:gridCol w="25368"/>
                <a:gridCol w="29844"/>
              </a:tblGrid>
              <a:tr h="6858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6F1"/>
                          </a:solidFill>
                          <a:latin typeface="IBM Plex Sans"/>
                        </a:rPr>
                        <a:t>Segment</a:t>
                      </a:r>
                    </a:p>
                  </a:txBody>
                  <a:tcPr marL="152400" marR="152400" marT="88900" marB="88900" anchor="ctr">
                    <a:solidFill>
                      <a:srgbClr val="0E1F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6F1"/>
                          </a:solidFill>
                          <a:latin typeface="IBM Plex Sans"/>
                        </a:rPr>
                        <a:t>How they already spend</a:t>
                      </a:r>
                    </a:p>
                  </a:txBody>
                  <a:tcPr marL="152400" marR="152400" marT="88900" marB="88900" anchor="ctr">
                    <a:solidFill>
                      <a:srgbClr val="0E1F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6F1"/>
                          </a:solidFill>
                          <a:latin typeface="IBM Plex Sans"/>
                        </a:rPr>
                        <a:t>What the card must do</a:t>
                      </a:r>
                    </a:p>
                  </a:txBody>
                  <a:tcPr marL="152400" marR="152400" marT="88900" marB="88900" anchor="ctr">
                    <a:solidFill>
                      <a:srgbClr val="0E1F33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2233"/>
                          </a:solidFill>
                          <a:latin typeface="IBM Plex Sans"/>
                        </a:rPr>
                        <a:t>Metro IT professionals — 51.04% utilization</a:t>
                      </a:r>
                    </a:p>
                  </a:txBody>
                  <a:tcPr marL="152400" marR="1524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2233"/>
                          </a:solidFill>
                          <a:latin typeface="IBM Plex Sans"/>
                        </a:rPr>
                        <a:t>Heavy on bills, electronics, digital payments</a:t>
                      </a:r>
                    </a:p>
                  </a:txBody>
                  <a:tcPr marL="152400" marR="1524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2233"/>
                          </a:solidFill>
                          <a:latin typeface="IBM Plex Sans"/>
                        </a:rPr>
                        <a:t>Reward the categories they already max out</a:t>
                      </a:r>
                    </a:p>
                  </a:txBody>
                  <a:tcPr marL="152400" marR="152400" marT="76200" marB="76200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2233"/>
                          </a:solidFill>
                          <a:latin typeface="IBM Plex Sans"/>
                        </a:rPr>
                        <a:t>Age 35–45, Middle Class — 46.72% utilization</a:t>
                      </a:r>
                    </a:p>
                  </a:txBody>
                  <a:tcPr marL="152400" marR="152400" marT="76200" marB="76200" anchor="ctr">
                    <a:solidFill>
                      <a:srgbClr val="F1EEE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2233"/>
                          </a:solidFill>
                          <a:latin typeface="IBM Plex Sans"/>
                        </a:rPr>
                        <a:t>Groceries, travel, family expenses</a:t>
                      </a:r>
                    </a:p>
                  </a:txBody>
                  <a:tcPr marL="152400" marR="152400" marT="76200" marB="76200" anchor="ctr">
                    <a:solidFill>
                      <a:srgbClr val="F1EEE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2233"/>
                          </a:solidFill>
                          <a:latin typeface="IBM Plex Sans"/>
                        </a:rPr>
                        <a:t>Everyday value across life-stage categories</a:t>
                      </a:r>
                    </a:p>
                  </a:txBody>
                  <a:tcPr marL="152400" marR="152400" marT="76200" marB="76200" anchor="ctr">
                    <a:solidFill>
                      <a:srgbClr val="F1EEE4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2233"/>
                          </a:solidFill>
                          <a:latin typeface="IBM Plex Sans"/>
                        </a:rPr>
                        <a:t>Upper Class, ≥ ₹80K income — 29.63% utilization</a:t>
                      </a:r>
                    </a:p>
                  </a:txBody>
                  <a:tcPr marL="152400" marR="1524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2233"/>
                          </a:solidFill>
                          <a:latin typeface="IBM Plex Sans"/>
                        </a:rPr>
                        <a:t>Large unallocated liquidity, low card engagement</a:t>
                      </a:r>
                    </a:p>
                  </a:txBody>
                  <a:tcPr marL="152400" marR="1524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2233"/>
                          </a:solidFill>
                          <a:latin typeface="IBM Plex Sans"/>
                        </a:rPr>
                        <a:t>A premium lifestyle proposition that unlocks spend</a:t>
                      </a:r>
                    </a:p>
                  </a:txBody>
                  <a:tcPr marL="152400" marR="152400" marT="76200" marB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12800" y="6451600"/>
            <a:ext cx="6350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A7179"/>
                </a:solidFill>
                <a:latin typeface="IBM Plex Sans"/>
              </a:rPr>
              <a:t>Source: Segment thresholds validated against Tableau × Power BI, RESULTS.md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1000" y="6451600"/>
            <a:ext cx="8382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A7179"/>
                </a:solidFill>
                <a:latin typeface="IBM Plex San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5715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120">
                <a:solidFill>
                  <a:srgbClr val="7A5A1E"/>
                </a:solidFill>
                <a:latin typeface="IBM Plex Sans"/>
              </a:rPr>
              <a:t>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066800"/>
            <a:ext cx="952500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0E1F33"/>
                </a:solidFill>
                <a:latin typeface="Source Serif 4"/>
              </a:rPr>
              <a:t>The three-card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1595120"/>
            <a:ext cx="857250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4A5568"/>
                </a:solidFill>
                <a:latin typeface="IBM Plex Sans"/>
              </a:rPr>
              <a:t>Each card is built around the spending behavior of the segment it targets.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44" y="24447"/>
            <a:ext cx="24511" cy="18097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D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76" y="26352"/>
            <a:ext cx="20701" cy="19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110">
                <a:solidFill>
                  <a:srgbClr val="7A5A1E"/>
                </a:solidFill>
                <a:latin typeface="IBM Plex Sans"/>
              </a:rPr>
              <a:t>01 — MASS MARKET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76" y="28765"/>
            <a:ext cx="20701" cy="44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0E1F33"/>
                </a:solidFill>
                <a:latin typeface="Source Serif 4"/>
              </a:rPr>
              <a:t>Mitron Tech &amp; Bills Elevate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76" y="33020"/>
            <a:ext cx="20701" cy="22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7A5A1E"/>
                </a:solidFill>
                <a:latin typeface="IBM Plex Sans"/>
              </a:rPr>
              <a:t>Salaried IT &amp; metro professionals</a:t>
            </a:r>
          </a:p>
        </p:txBody>
      </p:sp>
      <p:sp>
        <p:nvSpPr>
          <p:cNvPr id="9" name="Rectangle 8"/>
          <p:cNvSpPr/>
          <p:nvPr/>
        </p:nvSpPr>
        <p:spPr>
          <a:xfrm>
            <a:off x="7676" y="35560"/>
            <a:ext cx="20447" cy="88"/>
          </a:xfrm>
          <a:prstGeom prst="rect">
            <a:avLst/>
          </a:prstGeom>
          <a:solidFill>
            <a:srgbClr val="E3D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76" y="36512"/>
            <a:ext cx="20701" cy="5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4A5568"/>
                </a:solidFill>
                <a:latin typeface="IBM Plex Sans"/>
              </a:rPr>
              <a:t>5% cashback on bills &amp; subscriptions, 3% on electronics, zero annual fee with ₹1.5L spend waiver.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933" y="24447"/>
            <a:ext cx="24511" cy="18097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D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965" y="26352"/>
            <a:ext cx="20701" cy="19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110">
                <a:solidFill>
                  <a:srgbClr val="7A5A1E"/>
                </a:solidFill>
                <a:latin typeface="IBM Plex Sans"/>
              </a:rPr>
              <a:t>02 — MID-TIER VOLUME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965" y="28765"/>
            <a:ext cx="20701" cy="44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0E1F33"/>
                </a:solidFill>
                <a:latin typeface="Source Serif 4"/>
              </a:rPr>
              <a:t>Mitron Family &amp; Lifestyle Rewards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65" y="33020"/>
            <a:ext cx="20701" cy="22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7A5A1E"/>
                </a:solidFill>
                <a:latin typeface="IBM Plex Sans"/>
              </a:rPr>
              <a:t>Age 35–45, Middle Class households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965" y="35560"/>
            <a:ext cx="20447" cy="88"/>
          </a:xfrm>
          <a:prstGeom prst="rect">
            <a:avLst/>
          </a:prstGeom>
          <a:solidFill>
            <a:srgbClr val="E3D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965" y="36512"/>
            <a:ext cx="20701" cy="5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4A5568"/>
                </a:solidFill>
                <a:latin typeface="IBM Plex Sans"/>
              </a:rPr>
              <a:t>4% on groceries, 2 lounge visits per quarter, fuel surcharge waiver nationwide.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222" y="24447"/>
            <a:ext cx="24511" cy="18097"/>
          </a:xfrm>
          <a:prstGeom prst="roundRect">
            <a:avLst>
              <a:gd name="adj" fmla="val 5000"/>
            </a:avLst>
          </a:prstGeom>
          <a:solidFill>
            <a:srgbClr val="0E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254" y="26352"/>
            <a:ext cx="20701" cy="19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110">
                <a:solidFill>
                  <a:srgbClr val="D9A857"/>
                </a:solidFill>
                <a:latin typeface="IBM Plex Sans"/>
              </a:rPr>
              <a:t>03 — HIGH-MARGIN PREMIUM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254" y="28765"/>
            <a:ext cx="20701" cy="44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8F6F1"/>
                </a:solidFill>
                <a:latin typeface="Source Serif 4"/>
              </a:rPr>
              <a:t>Mitron Privé Elite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254" y="33020"/>
            <a:ext cx="20701" cy="22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A857"/>
                </a:solidFill>
                <a:latin typeface="IBM Plex Sans"/>
              </a:rPr>
              <a:t>Upper Class &amp; business owners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254" y="35560"/>
            <a:ext cx="20447" cy="88"/>
          </a:xfrm>
          <a:prstGeom prst="rect">
            <a:avLst/>
          </a:prstGeom>
          <a:solidFill>
            <a:srgbClr val="2A3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254" y="36512"/>
            <a:ext cx="20701" cy="5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B9C2D6"/>
                </a:solidFill>
                <a:latin typeface="IBM Plex Sans"/>
              </a:rPr>
              <a:t>2x points on travel, dining &amp; wellness, 1.5% forex markup, concierge &amp; golf access.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800" y="6451600"/>
            <a:ext cx="6350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A7179"/>
                </a:solidFill>
                <a:latin typeface="IBM Plex Sans"/>
              </a:rPr>
              <a:t>Source: Product Feature Recommendations, PROJECT_REPORT.md 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41000" y="6451600"/>
            <a:ext cx="8382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A7179"/>
                </a:solidFill>
                <a:latin typeface="IBM Plex San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5715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120">
                <a:solidFill>
                  <a:srgbClr val="7A5A1E"/>
                </a:solidFill>
                <a:latin typeface="IBM Plex Sans"/>
              </a:rPr>
              <a:t>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066800"/>
            <a:ext cx="952500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0E1F33"/>
                </a:solidFill>
                <a:latin typeface="Source Serif 4"/>
              </a:rPr>
              <a:t>Feature comparison across the portfolio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44" y="22225"/>
          <a:ext cx="74611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6"/>
                <a:gridCol w="20145"/>
                <a:gridCol w="20145"/>
                <a:gridCol w="20145"/>
              </a:tblGrid>
              <a:tr h="60350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6F1"/>
                          </a:solidFill>
                          <a:latin typeface="IBM Plex Sans"/>
                        </a:rPr>
                        <a:t>Feature</a:t>
                      </a:r>
                    </a:p>
                  </a:txBody>
                  <a:tcPr marL="152400" marR="152400" marT="88900" marB="88900" anchor="ctr">
                    <a:solidFill>
                      <a:srgbClr val="0E1F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6F1"/>
                          </a:solidFill>
                          <a:latin typeface="IBM Plex Sans"/>
                        </a:rPr>
                        <a:t>Tech &amp; Bills Elevate</a:t>
                      </a:r>
                    </a:p>
                  </a:txBody>
                  <a:tcPr marL="152400" marR="152400" marT="88900" marB="88900" anchor="ctr">
                    <a:solidFill>
                      <a:srgbClr val="0E1F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6F1"/>
                          </a:solidFill>
                          <a:latin typeface="IBM Plex Sans"/>
                        </a:rPr>
                        <a:t>Family &amp; Lifestyle Rewards</a:t>
                      </a:r>
                    </a:p>
                  </a:txBody>
                  <a:tcPr marL="152400" marR="152400" marT="88900" marB="88900" anchor="ctr">
                    <a:solidFill>
                      <a:srgbClr val="0E1F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6F1"/>
                          </a:solidFill>
                          <a:latin typeface="IBM Plex Sans"/>
                        </a:rPr>
                        <a:t>Privé Elite</a:t>
                      </a:r>
                    </a:p>
                  </a:txBody>
                  <a:tcPr marL="152400" marR="152400" marT="88900" marB="88900" anchor="ctr">
                    <a:solidFill>
                      <a:srgbClr val="0E1F33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A2233"/>
                          </a:solidFill>
                          <a:latin typeface="IBM Plex Sans"/>
                        </a:rPr>
                        <a:t>Primary reward</a:t>
                      </a:r>
                    </a:p>
                  </a:txBody>
                  <a:tcPr marL="152400" marR="1524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2233"/>
                          </a:solidFill>
                          <a:latin typeface="IBM Plex Sans"/>
                        </a:rPr>
                        <a:t>5% on bills &amp; subscriptions</a:t>
                      </a:r>
                    </a:p>
                  </a:txBody>
                  <a:tcPr marL="152400" marR="1524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2233"/>
                          </a:solidFill>
                          <a:latin typeface="IBM Plex Sans"/>
                        </a:rPr>
                        <a:t>4% on groceries</a:t>
                      </a:r>
                    </a:p>
                  </a:txBody>
                  <a:tcPr marL="152400" marR="1524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2233"/>
                          </a:solidFill>
                          <a:latin typeface="IBM Plex Sans"/>
                        </a:rPr>
                        <a:t>2x points, travel &amp; dining</a:t>
                      </a:r>
                    </a:p>
                  </a:txBody>
                  <a:tcPr marL="152400" marR="152400" marT="76200" marB="7620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A2233"/>
                          </a:solidFill>
                          <a:latin typeface="IBM Plex Sans"/>
                        </a:rPr>
                        <a:t>Secondary reward</a:t>
                      </a:r>
                    </a:p>
                  </a:txBody>
                  <a:tcPr marL="152400" marR="152400" marT="76200" marB="76200" anchor="ctr">
                    <a:solidFill>
                      <a:srgbClr val="F1EEE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2233"/>
                          </a:solidFill>
                          <a:latin typeface="IBM Plex Sans"/>
                        </a:rPr>
                        <a:t>3% on electronics</a:t>
                      </a:r>
                    </a:p>
                  </a:txBody>
                  <a:tcPr marL="152400" marR="152400" marT="76200" marB="76200" anchor="ctr">
                    <a:solidFill>
                      <a:srgbClr val="F1EEE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2233"/>
                          </a:solidFill>
                          <a:latin typeface="IBM Plex Sans"/>
                        </a:rPr>
                        <a:t>Fuel surcharge waiver</a:t>
                      </a:r>
                    </a:p>
                  </a:txBody>
                  <a:tcPr marL="152400" marR="152400" marT="76200" marB="76200" anchor="ctr">
                    <a:solidFill>
                      <a:srgbClr val="F1EEE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2233"/>
                          </a:solidFill>
                          <a:latin typeface="IBM Plex Sans"/>
                        </a:rPr>
                        <a:t>1.5% forex markup</a:t>
                      </a:r>
                    </a:p>
                  </a:txBody>
                  <a:tcPr marL="152400" marR="152400" marT="76200" marB="76200" anchor="ctr">
                    <a:solidFill>
                      <a:srgbClr val="F1EEE4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A2233"/>
                          </a:solidFill>
                          <a:latin typeface="IBM Plex Sans"/>
                        </a:rPr>
                        <a:t>Signature perk</a:t>
                      </a:r>
                    </a:p>
                  </a:txBody>
                  <a:tcPr marL="152400" marR="1524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2233"/>
                          </a:solidFill>
                          <a:latin typeface="IBM Plex Sans"/>
                        </a:rPr>
                        <a:t>Zero annual fee, ₹1.5L waiver</a:t>
                      </a:r>
                    </a:p>
                  </a:txBody>
                  <a:tcPr marL="152400" marR="1524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2233"/>
                          </a:solidFill>
                          <a:latin typeface="IBM Plex Sans"/>
                        </a:rPr>
                        <a:t>2 lounge visits per quarter</a:t>
                      </a:r>
                    </a:p>
                  </a:txBody>
                  <a:tcPr marL="152400" marR="1524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2233"/>
                          </a:solidFill>
                          <a:latin typeface="IBM Plex Sans"/>
                        </a:rPr>
                        <a:t>Concierge &amp; golf access</a:t>
                      </a:r>
                    </a:p>
                  </a:txBody>
                  <a:tcPr marL="152400" marR="152400" marT="76200" marB="7620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A2233"/>
                          </a:solidFill>
                          <a:latin typeface="IBM Plex Sans"/>
                        </a:rPr>
                        <a:t>Target segment</a:t>
                      </a:r>
                    </a:p>
                  </a:txBody>
                  <a:tcPr marL="152400" marR="152400" marT="76200" marB="76200" anchor="ctr">
                    <a:solidFill>
                      <a:srgbClr val="F1EEE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2233"/>
                          </a:solidFill>
                          <a:latin typeface="IBM Plex Sans"/>
                        </a:rPr>
                        <a:t>Salaried IT, metro cities</a:t>
                      </a:r>
                    </a:p>
                  </a:txBody>
                  <a:tcPr marL="152400" marR="152400" marT="76200" marB="76200" anchor="ctr">
                    <a:solidFill>
                      <a:srgbClr val="F1EEE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2233"/>
                          </a:solidFill>
                          <a:latin typeface="IBM Plex Sans"/>
                        </a:rPr>
                        <a:t>Age 35–45, Middle Class</a:t>
                      </a:r>
                    </a:p>
                  </a:txBody>
                  <a:tcPr marL="152400" marR="152400" marT="76200" marB="76200" anchor="ctr">
                    <a:solidFill>
                      <a:srgbClr val="F1EEE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A2233"/>
                          </a:solidFill>
                          <a:latin typeface="IBM Plex Sans"/>
                        </a:rPr>
                        <a:t>Upper Class, ≥ ₹80K income</a:t>
                      </a:r>
                    </a:p>
                  </a:txBody>
                  <a:tcPr marL="152400" marR="152400" marT="76200" marB="76200" anchor="ctr">
                    <a:solidFill>
                      <a:srgbClr val="F1EEE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12800" y="6451600"/>
            <a:ext cx="6350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A7179"/>
                </a:solidFill>
                <a:latin typeface="IBM Plex Sans"/>
              </a:rPr>
              <a:t>Source: Product Feature Recommendations, PROJECT_REPORT.md §3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1000" y="6451600"/>
            <a:ext cx="8382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A7179"/>
                </a:solidFill>
                <a:latin typeface="IBM Plex San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5715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120">
                <a:solidFill>
                  <a:srgbClr val="7A5A1E"/>
                </a:solidFill>
                <a:latin typeface="IBM Plex Sans"/>
              </a:rPr>
              <a:t>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066800"/>
            <a:ext cx="952500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0E1F33"/>
                </a:solidFill>
                <a:latin typeface="Source Serif 4"/>
              </a:rPr>
              <a:t>Go-to-market: three moves, in sequence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44" y="23812"/>
            <a:ext cx="74612" cy="666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01" y="25717"/>
            <a:ext cx="2857" cy="2857"/>
          </a:xfrm>
          <a:prstGeom prst="ellipse">
            <a:avLst/>
          </a:prstGeom>
          <a:solidFill>
            <a:srgbClr val="0E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1" y="25844"/>
            <a:ext cx="2857" cy="2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8F6F1"/>
                </a:solidFill>
                <a:latin typeface="IBM Plex San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51" y="24701"/>
            <a:ext cx="62230" cy="22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E1F33"/>
                </a:solidFill>
                <a:latin typeface="IBM Plex Sans"/>
              </a:rPr>
              <a:t>Digital co-marketing &amp; payroll partnerships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1" y="27114"/>
            <a:ext cx="62230" cy="28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4A5568"/>
                </a:solidFill>
                <a:latin typeface="IBM Plex Sans"/>
              </a:rPr>
              <a:t>Partner with IT employers in Mumbai, Bengaluru, and Delhi NCR for direct-to-employee pre-approvals.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44" y="32258"/>
            <a:ext cx="74612" cy="666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501" y="34163"/>
            <a:ext cx="2857" cy="2857"/>
          </a:xfrm>
          <a:prstGeom prst="ellipse">
            <a:avLst/>
          </a:prstGeom>
          <a:solidFill>
            <a:srgbClr val="0E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1" y="34290"/>
            <a:ext cx="2857" cy="2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8F6F1"/>
                </a:solidFill>
                <a:latin typeface="IBM Plex San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51" y="33147"/>
            <a:ext cx="62230" cy="22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E1F33"/>
                </a:solidFill>
                <a:latin typeface="IBM Plex Sans"/>
              </a:rPr>
              <a:t>UPI-linked RuPay rollout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851" y="35560"/>
            <a:ext cx="62230" cy="28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4A5568"/>
                </a:solidFill>
                <a:latin typeface="IBM Plex Sans"/>
              </a:rPr>
              <a:t>Link the credit line directly to UPI, capturing the 26.4% of portfolio spend already flowing there.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44" y="40703"/>
            <a:ext cx="74612" cy="666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01" y="42608"/>
            <a:ext cx="2857" cy="2857"/>
          </a:xfrm>
          <a:prstGeom prst="ellipse">
            <a:avLst/>
          </a:prstGeom>
          <a:solidFill>
            <a:srgbClr val="0E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1" y="42735"/>
            <a:ext cx="2857" cy="2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8F6F1"/>
                </a:solidFill>
                <a:latin typeface="IBM Plex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851" y="41592"/>
            <a:ext cx="62230" cy="22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E1F33"/>
                </a:solidFill>
                <a:latin typeface="IBM Plex Sans"/>
              </a:rPr>
              <a:t>Debit-to-credit migration nudges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51" y="44005"/>
            <a:ext cx="62230" cy="28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4A5568"/>
                </a:solidFill>
                <a:latin typeface="IBM Plex Sans"/>
              </a:rPr>
              <a:t>Automated spend-milestone alerts to shift the 20.1% of spend still sitting on debit cards.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" y="6451600"/>
            <a:ext cx="6350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A7179"/>
                </a:solidFill>
                <a:latin typeface="IBM Plex Sans"/>
              </a:rPr>
              <a:t>Source: Go-To-Market &amp; Acquisition Strategy, PROJECT_REPORT.md §4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41000" y="6451600"/>
            <a:ext cx="8382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A7179"/>
                </a:solidFill>
                <a:latin typeface="IBM Plex San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812800"/>
            <a:ext cx="5715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120">
                <a:solidFill>
                  <a:srgbClr val="D9A857"/>
                </a:solidFill>
                <a:latin typeface="IBM Plex Sans"/>
              </a:rPr>
              <a:t>RISKS &amp; 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1066800"/>
            <a:ext cx="952500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F8F6F1"/>
                </a:solidFill>
                <a:latin typeface="Source Serif 4"/>
              </a:rPr>
              <a:t>Two caveats, and what we are asking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44" y="23495"/>
            <a:ext cx="35560" cy="22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120">
                <a:solidFill>
                  <a:srgbClr val="D9A857"/>
                </a:solidFill>
                <a:latin typeface="IBM Plex Sans"/>
              </a:rPr>
              <a:t>WHAT TO WATCH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44" y="26352"/>
            <a:ext cx="2540" cy="25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D9A857"/>
                </a:solidFill>
                <a:latin typeface="IBM Plex Sans"/>
              </a:rPr>
              <a:t>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1" y="26225"/>
            <a:ext cx="32702" cy="38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9C2D6"/>
                </a:solidFill>
                <a:latin typeface="IBM Plex Sans"/>
              </a:rPr>
              <a:t>Income utilization is a proxy for credit propensity, not a default-risk predictor.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44" y="31750"/>
            <a:ext cx="2540" cy="25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D9A857"/>
                </a:solidFill>
                <a:latin typeface="IBM Plex Sans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1" y="31623"/>
            <a:ext cx="32702" cy="38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9C2D6"/>
                </a:solidFill>
                <a:latin typeface="IBM Plex Sans"/>
              </a:rPr>
              <a:t>The analysis is a six-month snapshot, May–Oct. Continuous monitoring is needed post-launch.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97" y="23495"/>
            <a:ext cx="35560" cy="22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120">
                <a:solidFill>
                  <a:srgbClr val="D9A857"/>
                </a:solidFill>
                <a:latin typeface="IBM Plex Sans"/>
              </a:rPr>
              <a:t>THE ASK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97" y="26352"/>
            <a:ext cx="2540" cy="25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D9A857"/>
                </a:solidFill>
                <a:latin typeface="IBM Plex Sans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55" y="26225"/>
            <a:ext cx="32702" cy="38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F8F6F1"/>
                </a:solidFill>
                <a:latin typeface="IBM Plex Sans"/>
              </a:rPr>
              <a:t>Approve the three-card charter and the feature sets on the prior slide.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97" y="31750"/>
            <a:ext cx="2540" cy="25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D9A857"/>
                </a:solidFill>
                <a:latin typeface="IBM Plex Sans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55" y="31623"/>
            <a:ext cx="32702" cy="38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F8F6F1"/>
                </a:solidFill>
                <a:latin typeface="IBM Plex Sans"/>
              </a:rPr>
              <a:t>Fund the payroll and UPI go-to-market sprint, targeting the metro IT segment first.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800" y="6451600"/>
            <a:ext cx="6350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9C2D6"/>
                </a:solidFill>
                <a:latin typeface="IBM Plex Sans"/>
              </a:rPr>
              <a:t>Mitron Bank · Credit Card Strategy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41000" y="6451600"/>
            <a:ext cx="8382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B9C2D6"/>
                </a:solidFill>
                <a:latin typeface="IBM Plex Sans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