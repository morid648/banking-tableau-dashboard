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9692640" cy="5760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0"/>
              </a:spcAft>
            </a:pPr>
            <a:r>
              <a:rPr sz="1200" b="1" spc="120">
                <a:solidFill>
                  <a:srgbClr val="D9A857"/>
                </a:solidFill>
                <a:latin typeface="IBM Plex Sans"/>
              </a:rPr>
              <a:t>MITRON BANK · CREDIT CARD STRATEGY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4000" b="0">
                <a:solidFill>
                  <a:srgbClr val="F8F6F1"/>
                </a:solidFill>
                <a:latin typeface="Source Serif 4"/>
              </a:rPr>
              <a:t>A card portfolio built on where the money already moves</a:t>
            </a:r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B9C2D6"/>
                </a:solidFill>
                <a:latin typeface="IBM Plex Sans"/>
              </a:rPr>
              <a:t>Six months of transaction data across 4,000 customers and ₹530.9M in spend point to three distinct card propositions, and the order to launch them 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9893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9C2D6"/>
                </a:solidFill>
                <a:latin typeface="IBM Plex Sans"/>
              </a:rPr>
              <a:t>Prepared for the Executive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25535" y="5989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D9A857"/>
                </a:solidFill>
                <a:latin typeface="IBM Plex Sans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692640" cy="580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00" b="1" spc="120">
                <a:solidFill>
                  <a:srgbClr val="7A5A1E"/>
                </a:solidFill>
                <a:latin typeface="IBM Plex Sans"/>
              </a:rPr>
              <a:t>CONTEXT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000" b="0">
                <a:solidFill>
                  <a:srgbClr val="0E1F33"/>
                </a:solidFill>
                <a:latin typeface="Source Serif 4"/>
              </a:rPr>
              <a:t>The portfolio is already telling us who spends, and how much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3246120"/>
            <a:ext cx="24231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3429000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E1F33"/>
                </a:solidFill>
                <a:latin typeface="Source Serif 4"/>
              </a:rPr>
              <a:t>4,000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4023359"/>
            <a:ext cx="20208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5568"/>
                </a:solidFill>
                <a:latin typeface="IBM Plex Sans"/>
              </a:rPr>
              <a:t>customers, 864,000 transactions tracked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5" y="3246120"/>
            <a:ext cx="24231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66744" y="3429000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E1F33"/>
                </a:solidFill>
                <a:latin typeface="Source Serif 4"/>
              </a:rPr>
              <a:t>₹88.48M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6744" y="4023359"/>
            <a:ext cx="20208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5568"/>
                </a:solidFill>
                <a:latin typeface="IBM Plex Sans"/>
              </a:rPr>
              <a:t>average monthly spend, portfolio-wide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8192" y="3246120"/>
            <a:ext cx="24231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3429000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E1F33"/>
                </a:solidFill>
                <a:latin typeface="Source Serif 4"/>
              </a:rPr>
              <a:t>₹206.63M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4023359"/>
            <a:ext cx="20208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5568"/>
                </a:solidFill>
                <a:latin typeface="IBM Plex Sans"/>
              </a:rPr>
              <a:t>average monthly income, portfolio-wide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50807" y="3246120"/>
            <a:ext cx="2423160" cy="1508760"/>
          </a:xfrm>
          <a:prstGeom prst="roundRect">
            <a:avLst>
              <a:gd name="adj" fmla="val 8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1976" y="3429000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D9A857"/>
                </a:solidFill>
                <a:latin typeface="Source Serif 4"/>
              </a:rPr>
              <a:t>42.82%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4023359"/>
            <a:ext cx="20208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9C2D6"/>
                </a:solidFill>
                <a:latin typeface="IBM Plex Sans"/>
              </a:rPr>
              <a:t>of income the portfolio already spends monthly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E1F33"/>
                </a:solidFill>
                <a:latin typeface="IBM Plex Sans"/>
              </a:rPr>
              <a:t>Retail banking growth starts with the credit line, and the data already shows where to point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Source: dim_customers.csv × fact_spends.csv — 6-month window (May–Oct)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692640" cy="580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00" b="1" spc="120">
                <a:solidFill>
                  <a:srgbClr val="7A5A1E"/>
                </a:solidFill>
                <a:latin typeface="IBM Plex Sans"/>
              </a:rPr>
              <a:t>TENSION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000" b="0">
                <a:solidFill>
                  <a:srgbClr val="0E1F33"/>
                </a:solidFill>
                <a:latin typeface="Source Serif 4"/>
              </a:rPr>
              <a:t>One card will not fit a portfolio this spread out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5568"/>
                </a:solidFill>
                <a:latin typeface="IBM Plex Sans"/>
              </a:rPr>
              <a:t>Income utilization, the share of monthly income customers already spend, swings by more than 20 points across cities.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186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233"/>
                </a:solidFill>
                <a:latin typeface="IBM Plex Sans"/>
              </a:rPr>
              <a:t>Mumbai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14600" y="3246120"/>
            <a:ext cx="37033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14600" y="3246120"/>
            <a:ext cx="3444087" cy="201168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321868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1A2233"/>
                </a:solidFill>
                <a:latin typeface="IBM Plex Sans"/>
              </a:rPr>
              <a:t>51.4%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3931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233"/>
                </a:solidFill>
                <a:latin typeface="IBM Plex Sans"/>
              </a:rPr>
              <a:t>Delhi NCR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3666744"/>
            <a:ext cx="37033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14600" y="3666744"/>
            <a:ext cx="3221888" cy="201168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6393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1A2233"/>
                </a:solidFill>
                <a:latin typeface="IBM Plex Sans"/>
              </a:rPr>
              <a:t>48.0%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59935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233"/>
                </a:solidFill>
                <a:latin typeface="IBM Plex Sans"/>
              </a:rPr>
              <a:t>Bengaluru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4087368"/>
            <a:ext cx="37033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14600" y="4087368"/>
            <a:ext cx="2925622" cy="201168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059935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1A2233"/>
                </a:solidFill>
                <a:latin typeface="IBM Plex Sans"/>
              </a:rPr>
              <a:t>43.5%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0559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233"/>
                </a:solidFill>
                <a:latin typeface="IBM Plex Sans"/>
              </a:rPr>
              <a:t>Hyderabad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4507992"/>
            <a:ext cx="37033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14600" y="4507992"/>
            <a:ext cx="2444191" cy="201168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480559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1A2233"/>
                </a:solidFill>
                <a:latin typeface="IBM Plex Sans"/>
              </a:rPr>
              <a:t>36.3%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01183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2233"/>
                </a:solidFill>
                <a:latin typeface="IBM Plex Sans"/>
              </a:rPr>
              <a:t>Chennai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4928616"/>
            <a:ext cx="37033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14600" y="4928616"/>
            <a:ext cx="2110892" cy="201168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901183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1A2233"/>
                </a:solidFill>
                <a:latin typeface="IBM Plex Sans"/>
              </a:rPr>
              <a:t>31.1%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3246120"/>
            <a:ext cx="4007815" cy="2148840"/>
          </a:xfrm>
          <a:prstGeom prst="roundRect">
            <a:avLst>
              <a:gd name="adj" fmla="val 6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8" y="3520439"/>
            <a:ext cx="3422599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100" b="1" spc="110">
                <a:solidFill>
                  <a:srgbClr val="D9A857"/>
                </a:solidFill>
                <a:latin typeface="IBM Plex Sans"/>
              </a:rPr>
              <a:t>LOWEST OF ANY SEGMENT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4000" b="1">
                <a:solidFill>
                  <a:srgbClr val="F8F6F1"/>
                </a:solidFill>
                <a:latin typeface="Source Serif 4"/>
              </a:rPr>
              <a:t>29.63%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B9C2D6"/>
                </a:solidFill>
                <a:latin typeface="IBM Plex Sans"/>
              </a:rPr>
              <a:t>Upper Class customers, avg income ≥ ₹80,000, utilize even less than Chennai, 13 points below the portfolio average.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Source: City-level utilization, fact_spends.csv × dim_customers.csv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692640" cy="580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00" b="1" spc="120">
                <a:solidFill>
                  <a:srgbClr val="7A5A1E"/>
                </a:solidFill>
                <a:latin typeface="IBM Plex Sans"/>
              </a:rPr>
              <a:t>INSIGHT 01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000" b="0">
                <a:solidFill>
                  <a:srgbClr val="0E1F33"/>
                </a:solidFill>
                <a:latin typeface="Source Serif 4"/>
              </a:rPr>
              <a:t>Metro IT professionals are already living on credit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5568"/>
                </a:solidFill>
                <a:latin typeface="IBM Plex Sans"/>
              </a:rPr>
              <a:t>Salaried IT employees post the highest income utilization of any occupation, and Mumbai leads every city.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3246120"/>
            <a:ext cx="4206240" cy="2286000"/>
          </a:xfrm>
          <a:prstGeom prst="roundRect">
            <a:avLst>
              <a:gd name="adj" fmla="val 6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3520439"/>
            <a:ext cx="3621023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4400" b="1">
                <a:solidFill>
                  <a:srgbClr val="D9A857"/>
                </a:solidFill>
                <a:latin typeface="Source Serif 4"/>
              </a:rPr>
              <a:t>51.04%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B9C2D6"/>
                </a:solidFill>
                <a:latin typeface="IBM Plex Sans"/>
              </a:rPr>
              <a:t>Salaried IT employees, the highest utilization of any occupation, ₹40.62M monthly spend across 1,294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0680" y="335584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2233"/>
                </a:solidFill>
                <a:latin typeface="IBM Plex Sans"/>
              </a:rPr>
              <a:t>Salaried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3383279"/>
            <a:ext cx="3367735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78040" y="3383279"/>
            <a:ext cx="3131993" cy="201168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82935" y="3355848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1A2233"/>
                </a:solidFill>
                <a:latin typeface="IBM Plex Sans"/>
              </a:rPr>
              <a:t>51.0%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3739896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2233"/>
                </a:solidFill>
                <a:latin typeface="IBM Plex Sans"/>
              </a:rPr>
              <a:t>Freelancers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3767328"/>
            <a:ext cx="3367735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78040" y="3767328"/>
            <a:ext cx="2795220" cy="201168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2935" y="3739896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1A2233"/>
                </a:solidFill>
                <a:latin typeface="IBM Plex Sans"/>
              </a:rPr>
              <a:t>45.8%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412394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2233"/>
                </a:solidFill>
                <a:latin typeface="IBM Plex Sans"/>
              </a:rPr>
              <a:t>Salaried, other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4151376"/>
            <a:ext cx="3367735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78040" y="4151376"/>
            <a:ext cx="2593156" cy="201168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82935" y="4123944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1A2233"/>
                </a:solidFill>
                <a:latin typeface="IBM Plex Sans"/>
              </a:rPr>
              <a:t>42.1%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450799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2233"/>
                </a:solidFill>
                <a:latin typeface="IBM Plex Sans"/>
              </a:rPr>
              <a:t>Business owners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4535424"/>
            <a:ext cx="3367735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78040" y="4535424"/>
            <a:ext cx="2020641" cy="201168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82935" y="450799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1A2233"/>
                </a:solidFill>
                <a:latin typeface="IBM Plex Sans"/>
              </a:rPr>
              <a:t>33.2%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489204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2233"/>
                </a:solidFill>
                <a:latin typeface="IBM Plex Sans"/>
              </a:rPr>
              <a:t>Government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4919472"/>
            <a:ext cx="3367735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78040" y="4919472"/>
            <a:ext cx="1784899" cy="201168"/>
          </a:xfrm>
          <a:prstGeom prst="roundRect">
            <a:avLst>
              <a:gd name="adj" fmla="val 5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82935" y="489204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1A2233"/>
                </a:solidFill>
                <a:latin typeface="IBM Plex Sans"/>
              </a:rPr>
              <a:t>29.0%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Source: Occupation-level utilization, fact_spends.csv × dim_customers.csv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692640" cy="580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00" b="1" spc="120">
                <a:solidFill>
                  <a:srgbClr val="7A5A1E"/>
                </a:solidFill>
                <a:latin typeface="IBM Plex Sans"/>
              </a:rPr>
              <a:t>INSIGHT 02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000" b="0">
                <a:solidFill>
                  <a:srgbClr val="0E1F33"/>
                </a:solidFill>
                <a:latin typeface="Source Serif 4"/>
              </a:rPr>
              <a:t>Spending peaks mid-career, not at the start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5568"/>
                </a:solidFill>
                <a:latin typeface="IBM Plex Sans"/>
              </a:rPr>
              <a:t>Utilization climbs through the 30s and 40s, then eases as customers shift toward a savings mindset.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58187" y="4542647"/>
            <a:ext cx="1691640" cy="1263792"/>
          </a:xfrm>
          <a:prstGeom prst="roundRect">
            <a:avLst>
              <a:gd name="adj" fmla="val 10000"/>
            </a:avLst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1027" y="4176887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E1F33"/>
                </a:solidFill>
                <a:latin typeface="IBM Plex Sans"/>
              </a:rPr>
              <a:t>40.6%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1027" y="5897879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4A5568"/>
                </a:solidFill>
                <a:latin typeface="IBM Plex Sans"/>
              </a:rPr>
              <a:t>21–24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52747" y="4447824"/>
            <a:ext cx="1691640" cy="1358615"/>
          </a:xfrm>
          <a:prstGeom prst="roundRect">
            <a:avLst>
              <a:gd name="adj" fmla="val 10000"/>
            </a:avLst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15587" y="4082064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E1F33"/>
                </a:solidFill>
                <a:latin typeface="IBM Plex Sans"/>
              </a:rPr>
              <a:t>43.7%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15587" y="5897879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4A5568"/>
                </a:solidFill>
                <a:latin typeface="IBM Plex Sans"/>
              </a:rPr>
              <a:t>25–34 years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47307" y="4354555"/>
            <a:ext cx="1691640" cy="1451884"/>
          </a:xfrm>
          <a:prstGeom prst="roundRect">
            <a:avLst>
              <a:gd name="adj" fmla="val 10000"/>
            </a:avLst>
          </a:prstGeom>
          <a:solidFill>
            <a:srgbClr val="7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0147" y="3988795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7A5A1E"/>
                </a:solidFill>
                <a:latin typeface="Source Serif 4"/>
              </a:rPr>
              <a:t>46.7%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5897879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1F33"/>
                </a:solidFill>
                <a:latin typeface="IBM Plex Sans"/>
              </a:rPr>
              <a:t>35–45 years (peak)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1867" y="4727630"/>
            <a:ext cx="1691640" cy="1078809"/>
          </a:xfrm>
          <a:prstGeom prst="roundRect">
            <a:avLst>
              <a:gd name="adj" fmla="val 10000"/>
            </a:avLst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4707" y="436187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E1F33"/>
                </a:solidFill>
                <a:latin typeface="IBM Plex Sans"/>
              </a:rPr>
              <a:t>34.7%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4707" y="5897879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4A5568"/>
                </a:solidFill>
                <a:latin typeface="IBM Plex Sans"/>
              </a:rPr>
              <a:t>45+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Source: Age-band utilization, fact_spends.csv × dim_customers.csv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79A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120">
                <a:solidFill>
                  <a:srgbClr val="0E1F33"/>
                </a:solidFill>
                <a:latin typeface="IBM Plex Sans"/>
              </a:rPr>
              <a:t>INSIGHT 03 — THE UPPER CLASS CLIFF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0" b="1" i="0">
                <a:solidFill>
                  <a:srgbClr val="0E1F33"/>
                </a:solidFill>
                <a:latin typeface="Source Serif 4"/>
              </a:rPr>
              <a:t>29.63%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047" y="3611880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 i="0">
                <a:solidFill>
                  <a:srgbClr val="0E1F33"/>
                </a:solidFill>
                <a:latin typeface="IBM Plex Sans"/>
              </a:rPr>
              <a:t>is all that Upper Class customers utilize of their income, while Lower and Middle Class customers already spend about 43%. That gap is untapped disposable capacity, not disinterest.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1F33"/>
                </a:solidFill>
                <a:latin typeface="IBM Plex Sans"/>
              </a:rPr>
              <a:t>Source: Segment utilization, dim_customers.csv × fact_spends.csv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0E1F33"/>
                </a:solidFill>
                <a:latin typeface="IBM Plex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692640" cy="580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00" b="1" spc="120">
                <a:solidFill>
                  <a:srgbClr val="7A5A1E"/>
                </a:solidFill>
                <a:latin typeface="IBM Plex Sans"/>
              </a:rPr>
              <a:t>IMPLICATION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000" b="0">
                <a:solidFill>
                  <a:srgbClr val="0E1F33"/>
                </a:solidFill>
                <a:latin typeface="Source Serif 4"/>
              </a:rPr>
              <a:t>Three behaviors call for three card propositions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5568"/>
                </a:solidFill>
                <a:latin typeface="IBM Plex Sans"/>
              </a:rPr>
              <a:t>Matching product design to how each segment already spends turns three data patterns into three acquisition engines.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3246120"/>
          <a:ext cx="10545774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1901"/>
                <a:gridCol w="3585563"/>
                <a:gridCol w="421831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6F1"/>
                          </a:solidFill>
                          <a:latin typeface="IBM Plex Sans"/>
                        </a:rPr>
                        <a:t>Segment</a:t>
                      </a:r>
                    </a:p>
                  </a:txBody>
                  <a:tcPr marL="146304" marR="146304" marT="91440" marB="91440" anchor="ctr">
                    <a:solidFill>
                      <a:srgbClr val="0E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6F1"/>
                          </a:solidFill>
                          <a:latin typeface="IBM Plex Sans"/>
                        </a:rPr>
                        <a:t>How they already spend</a:t>
                      </a:r>
                    </a:p>
                  </a:txBody>
                  <a:tcPr marL="146304" marR="146304" marT="91440" marB="91440" anchor="ctr">
                    <a:solidFill>
                      <a:srgbClr val="0E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6F1"/>
                          </a:solidFill>
                          <a:latin typeface="IBM Plex Sans"/>
                        </a:rPr>
                        <a:t>What the card must do</a:t>
                      </a:r>
                    </a:p>
                  </a:txBody>
                  <a:tcPr marL="146304" marR="146304" marT="91440" marB="91440" anchor="ctr">
                    <a:solidFill>
                      <a:srgbClr val="0E1F33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233"/>
                          </a:solidFill>
                          <a:latin typeface="IBM Plex Sans"/>
                        </a:rPr>
                        <a:t>Metro IT professionals — 51.04% utilization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233"/>
                          </a:solidFill>
                          <a:latin typeface="IBM Plex Sans"/>
                        </a:rPr>
                        <a:t>Heavy on bills, electronics, digital payments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233"/>
                          </a:solidFill>
                          <a:latin typeface="IBM Plex Sans"/>
                        </a:rPr>
                        <a:t>Reward the categories they already max out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233"/>
                          </a:solidFill>
                          <a:latin typeface="IBM Plex Sans"/>
                        </a:rPr>
                        <a:t>Age 35–45, Middle Class — 46.72% utilization</a:t>
                      </a:r>
                    </a:p>
                  </a:txBody>
                  <a:tcPr marL="146304" marR="146304" marT="73152" marB="73152" anchor="ctr">
                    <a:solidFill>
                      <a:srgbClr val="F1EE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233"/>
                          </a:solidFill>
                          <a:latin typeface="IBM Plex Sans"/>
                        </a:rPr>
                        <a:t>Groceries, travel, family expenses</a:t>
                      </a:r>
                    </a:p>
                  </a:txBody>
                  <a:tcPr marL="146304" marR="146304" marT="73152" marB="73152" anchor="ctr">
                    <a:solidFill>
                      <a:srgbClr val="F1EE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233"/>
                          </a:solidFill>
                          <a:latin typeface="IBM Plex Sans"/>
                        </a:rPr>
                        <a:t>Everyday value across life-stage categories</a:t>
                      </a:r>
                    </a:p>
                  </a:txBody>
                  <a:tcPr marL="146304" marR="146304" marT="73152" marB="73152" anchor="ctr">
                    <a:solidFill>
                      <a:srgbClr val="F1EEE4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2233"/>
                          </a:solidFill>
                          <a:latin typeface="IBM Plex Sans"/>
                        </a:rPr>
                        <a:t>Upper Class, ≥ ₹80K income — 29.63% utilization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233"/>
                          </a:solidFill>
                          <a:latin typeface="IBM Plex Sans"/>
                        </a:rPr>
                        <a:t>Large unallocated liquidity, low card engagement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2233"/>
                          </a:solidFill>
                          <a:latin typeface="IBM Plex Sans"/>
                        </a:rPr>
                        <a:t>A premium lifestyle proposition that unlocks spend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Source: Segment thresholds validated against Tableau × Power BI, RESULTS.md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692640" cy="580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00" b="1" spc="120">
                <a:solidFill>
                  <a:srgbClr val="7A5A1E"/>
                </a:solidFill>
                <a:latin typeface="IBM Plex Sans"/>
              </a:rPr>
              <a:t>DECISION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000" b="0">
                <a:solidFill>
                  <a:srgbClr val="0E1F33"/>
                </a:solidFill>
                <a:latin typeface="Source Serif 4"/>
              </a:rPr>
              <a:t>The three-card portfolio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4A5568"/>
                </a:solidFill>
                <a:latin typeface="IBM Plex Sans"/>
              </a:rPr>
              <a:t>Each card is built around the spending behavior of the segment it targets.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3246120"/>
            <a:ext cx="3332378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502152"/>
            <a:ext cx="2783738" cy="3081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100" b="1" spc="100">
                <a:solidFill>
                  <a:srgbClr val="7A5A1E"/>
                </a:solidFill>
                <a:latin typeface="IBM Plex Sans"/>
              </a:rPr>
              <a:t>01 — MASS MARKET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0E1F33"/>
                </a:solidFill>
                <a:latin typeface="Source Serif 4"/>
              </a:rPr>
              <a:t>Mitron Tech &amp; Bills Elevate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300" b="1">
                <a:solidFill>
                  <a:srgbClr val="7A5A1E"/>
                </a:solidFill>
                <a:latin typeface="IBM Plex Sans"/>
              </a:rPr>
              <a:t>Salaried IT &amp; metro professionals</a:t>
            </a:r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4A5568"/>
                </a:solidFill>
                <a:latin typeface="IBM Plex Sans"/>
              </a:rPr>
              <a:t>5% cashback on bills &amp; subscriptions, 3% on electronics, zero annual fee with ₹1.5L spend waiver.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9658" y="3246120"/>
            <a:ext cx="3332378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3978" y="3502152"/>
            <a:ext cx="2783738" cy="3081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100" b="1" spc="100">
                <a:solidFill>
                  <a:srgbClr val="7A5A1E"/>
                </a:solidFill>
                <a:latin typeface="IBM Plex Sans"/>
              </a:rPr>
              <a:t>02 — MID-TIER VOLUME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0E1F33"/>
                </a:solidFill>
                <a:latin typeface="Source Serif 4"/>
              </a:rPr>
              <a:t>Mitron Family &amp; Lifestyle Rewards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300" b="1">
                <a:solidFill>
                  <a:srgbClr val="7A5A1E"/>
                </a:solidFill>
                <a:latin typeface="IBM Plex Sans"/>
              </a:rPr>
              <a:t>Age 35–45, Middle Class households</a:t>
            </a:r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4A5568"/>
                </a:solidFill>
                <a:latin typeface="IBM Plex Sans"/>
              </a:rPr>
              <a:t>4% on groceries, 2 lounge visits per quarter, fuel surcharge waiver nationwide.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36356" y="3246120"/>
            <a:ext cx="3332378" cy="2743200"/>
          </a:xfrm>
          <a:prstGeom prst="roundRect">
            <a:avLst>
              <a:gd name="adj" fmla="val 5000"/>
            </a:avLst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10676" y="3502152"/>
            <a:ext cx="2783738" cy="3081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100" b="1" spc="100">
                <a:solidFill>
                  <a:srgbClr val="D9A857"/>
                </a:solidFill>
                <a:latin typeface="IBM Plex Sans"/>
              </a:rPr>
              <a:t>03 — HIGH-MARGIN PREMIUM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8F6F1"/>
                </a:solidFill>
                <a:latin typeface="Source Serif 4"/>
              </a:rPr>
              <a:t>Mitron Privé Elite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300" b="1">
                <a:solidFill>
                  <a:srgbClr val="D9A857"/>
                </a:solidFill>
                <a:latin typeface="IBM Plex Sans"/>
              </a:rPr>
              <a:t>Upper Class &amp; business owners</a:t>
            </a:r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B9C2D6"/>
                </a:solidFill>
                <a:latin typeface="IBM Plex Sans"/>
              </a:rPr>
              <a:t>2x points on travel, dining &amp; wellness, 1.5% forex markup, concierge &amp; golf access.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Source: Product Feature Recommendations, PROJECT_REPORT.md §3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692640" cy="580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00" b="1" spc="120">
                <a:solidFill>
                  <a:srgbClr val="7A5A1E"/>
                </a:solidFill>
                <a:latin typeface="IBM Plex Sans"/>
              </a:rPr>
              <a:t>AT A GLANCE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000" b="0">
                <a:solidFill>
                  <a:srgbClr val="0E1F33"/>
                </a:solidFill>
                <a:latin typeface="Source Serif 4"/>
              </a:rPr>
              <a:t>Feature comparison across the portfolio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3246120"/>
          <a:ext cx="10545774" cy="32918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3697"/>
                <a:gridCol w="2847359"/>
                <a:gridCol w="2847359"/>
                <a:gridCol w="2847359"/>
              </a:tblGrid>
              <a:tr h="658367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6F1"/>
                          </a:solidFill>
                          <a:latin typeface="IBM Plex Sans"/>
                        </a:rPr>
                        <a:t>Feature</a:t>
                      </a:r>
                    </a:p>
                  </a:txBody>
                  <a:tcPr marL="146304" marR="146304" marT="91440" marB="91440" anchor="ctr">
                    <a:solidFill>
                      <a:srgbClr val="0E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6F1"/>
                          </a:solidFill>
                          <a:latin typeface="IBM Plex Sans"/>
                        </a:rPr>
                        <a:t>Tech &amp; Bills Elevate</a:t>
                      </a:r>
                    </a:p>
                  </a:txBody>
                  <a:tcPr marL="146304" marR="146304" marT="91440" marB="91440" anchor="ctr">
                    <a:solidFill>
                      <a:srgbClr val="0E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6F1"/>
                          </a:solidFill>
                          <a:latin typeface="IBM Plex Sans"/>
                        </a:rPr>
                        <a:t>Family &amp; Lifestyle Rewards</a:t>
                      </a:r>
                    </a:p>
                  </a:txBody>
                  <a:tcPr marL="146304" marR="146304" marT="91440" marB="91440" anchor="ctr">
                    <a:solidFill>
                      <a:srgbClr val="0E1F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6F1"/>
                          </a:solidFill>
                          <a:latin typeface="IBM Plex Sans"/>
                        </a:rPr>
                        <a:t>Privé Elite</a:t>
                      </a:r>
                    </a:p>
                  </a:txBody>
                  <a:tcPr marL="146304" marR="146304" marT="91440" marB="91440" anchor="ctr">
                    <a:solidFill>
                      <a:srgbClr val="0E1F33"/>
                    </a:solidFill>
                  </a:tcPr>
                </a:tc>
              </a:tr>
              <a:tr h="658367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2233"/>
                          </a:solidFill>
                          <a:latin typeface="IBM Plex Sans"/>
                        </a:rPr>
                        <a:t>Primary reward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5% on bills &amp; subscriptions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4% on groceries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2x points, travel &amp; dining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</a:tr>
              <a:tr h="658367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2233"/>
                          </a:solidFill>
                          <a:latin typeface="IBM Plex Sans"/>
                        </a:rPr>
                        <a:t>Secondary reward</a:t>
                      </a:r>
                    </a:p>
                  </a:txBody>
                  <a:tcPr marL="146304" marR="146304" marT="73152" marB="73152" anchor="ctr">
                    <a:solidFill>
                      <a:srgbClr val="F1EE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3% on electronics</a:t>
                      </a:r>
                    </a:p>
                  </a:txBody>
                  <a:tcPr marL="146304" marR="146304" marT="73152" marB="73152" anchor="ctr">
                    <a:solidFill>
                      <a:srgbClr val="F1EE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Fuel surcharge waiver</a:t>
                      </a:r>
                    </a:p>
                  </a:txBody>
                  <a:tcPr marL="146304" marR="146304" marT="73152" marB="73152" anchor="ctr">
                    <a:solidFill>
                      <a:srgbClr val="F1EE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1.5% forex markup</a:t>
                      </a:r>
                    </a:p>
                  </a:txBody>
                  <a:tcPr marL="146304" marR="146304" marT="73152" marB="73152" anchor="ctr">
                    <a:solidFill>
                      <a:srgbClr val="F1EEE4"/>
                    </a:solidFill>
                  </a:tcPr>
                </a:tc>
              </a:tr>
              <a:tr h="658367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2233"/>
                          </a:solidFill>
                          <a:latin typeface="IBM Plex Sans"/>
                        </a:rPr>
                        <a:t>Signature perk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Zero annual fee, ₹1.5L waiver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2 lounge visits per quarter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Concierge &amp; golf access</a:t>
                      </a:r>
                    </a:p>
                  </a:txBody>
                  <a:tcPr marL="146304" marR="146304" marT="73152" marB="73152" anchor="ctr">
                    <a:solidFill>
                      <a:srgbClr val="FFFFFF"/>
                    </a:solidFill>
                  </a:tcPr>
                </a:tc>
              </a:tr>
              <a:tr h="65837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2233"/>
                          </a:solidFill>
                          <a:latin typeface="IBM Plex Sans"/>
                        </a:rPr>
                        <a:t>Target segment</a:t>
                      </a:r>
                    </a:p>
                  </a:txBody>
                  <a:tcPr marL="146304" marR="146304" marT="73152" marB="73152" anchor="ctr">
                    <a:solidFill>
                      <a:srgbClr val="F1EE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Salaried IT, metro cities</a:t>
                      </a:r>
                    </a:p>
                  </a:txBody>
                  <a:tcPr marL="146304" marR="146304" marT="73152" marB="73152" anchor="ctr">
                    <a:solidFill>
                      <a:srgbClr val="F1EE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Age 35–45, Middle Class</a:t>
                      </a:r>
                    </a:p>
                  </a:txBody>
                  <a:tcPr marL="146304" marR="146304" marT="73152" marB="73152" anchor="ctr">
                    <a:solidFill>
                      <a:srgbClr val="F1EE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233"/>
                          </a:solidFill>
                          <a:latin typeface="IBM Plex Sans"/>
                        </a:rPr>
                        <a:t>Upper Class, ≥ ₹80K income</a:t>
                      </a:r>
                    </a:p>
                  </a:txBody>
                  <a:tcPr marL="146304" marR="146304" marT="73152" marB="73152" anchor="ctr">
                    <a:solidFill>
                      <a:srgbClr val="F1EEE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Source: Product Feature Recommendations, PROJECT_REPORT.md §3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692640" cy="580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00" b="1" spc="120">
                <a:solidFill>
                  <a:srgbClr val="7A5A1E"/>
                </a:solidFill>
                <a:latin typeface="IBM Plex Sans"/>
              </a:rPr>
              <a:t>ACTION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000" b="0">
                <a:solidFill>
                  <a:srgbClr val="0E1F33"/>
                </a:solidFill>
                <a:latin typeface="Source Serif 4"/>
              </a:rPr>
              <a:t>Go-to-market: three moves, in sequence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3246120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3474720"/>
            <a:ext cx="457200" cy="457200"/>
          </a:xfrm>
          <a:prstGeom prst="ellipse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502151"/>
            <a:ext cx="457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8F6F1"/>
                </a:solidFill>
                <a:latin typeface="IBM Plex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392424"/>
            <a:ext cx="92656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E1F33"/>
                </a:solidFill>
                <a:latin typeface="IBM Plex Sans"/>
              </a:rPr>
              <a:t>Digital co-marketing &amp; payroll partnerships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30752"/>
            <a:ext cx="92656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5568"/>
                </a:solidFill>
                <a:latin typeface="IBM Plex Sans"/>
              </a:rPr>
              <a:t>Partner with IT employers in Mumbai, Bengaluru, and Delhi NCR for direct-to-employee pre-approvals.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61688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4590288"/>
            <a:ext cx="457200" cy="457200"/>
          </a:xfrm>
          <a:prstGeom prst="ellipse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617720"/>
            <a:ext cx="457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8F6F1"/>
                </a:solidFill>
                <a:latin typeface="IBM Plex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507992"/>
            <a:ext cx="92656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E1F33"/>
                </a:solidFill>
                <a:latin typeface="IBM Plex Sans"/>
              </a:rPr>
              <a:t>UPI-linked RuPay 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846320"/>
            <a:ext cx="92656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5568"/>
                </a:solidFill>
                <a:latin typeface="IBM Plex Sans"/>
              </a:rPr>
              <a:t>Link the credit line directly to UPI, capturing the 26.4% of portfolio spend already flowing there.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477256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5705856"/>
            <a:ext cx="457200" cy="457200"/>
          </a:xfrm>
          <a:prstGeom prst="ellipse">
            <a:avLst/>
          </a:prstGeom>
          <a:solidFill>
            <a:srgbClr val="0E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733288"/>
            <a:ext cx="457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8F6F1"/>
                </a:solidFill>
                <a:latin typeface="IBM Plex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623560"/>
            <a:ext cx="92656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E1F33"/>
                </a:solidFill>
                <a:latin typeface="IBM Plex Sans"/>
              </a:rPr>
              <a:t>Debit-to-credit migration nudges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961888"/>
            <a:ext cx="92656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5568"/>
                </a:solidFill>
                <a:latin typeface="IBM Plex Sans"/>
              </a:rPr>
              <a:t>Automated spend-milestone alerts to shift the 20.1% of spend still sitting on debit cards.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Source: Go-To-Market &amp; Acquisition Strategy, PROJECT_REPORT.md §4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A7179"/>
                </a:solidFill>
                <a:latin typeface="IBM Plex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692640" cy="580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00" b="1" spc="120">
                <a:solidFill>
                  <a:srgbClr val="D9A857"/>
                </a:solidFill>
                <a:latin typeface="IBM Plex Sans"/>
              </a:rPr>
              <a:t>RISKS &amp; THE ASK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000" b="0">
                <a:solidFill>
                  <a:srgbClr val="F8F6F1"/>
                </a:solidFill>
                <a:latin typeface="Source Serif 4"/>
              </a:rPr>
              <a:t>Two caveats, and what we are asking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46120"/>
            <a:ext cx="49985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D9A857"/>
                </a:solidFill>
                <a:latin typeface="IBM Plex Sans"/>
              </a:rPr>
              <a:t>WHAT TO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9A857"/>
                </a:solidFill>
                <a:latin typeface="IBM Plex Sans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685032"/>
            <a:ext cx="45870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9C2D6"/>
                </a:solidFill>
                <a:latin typeface="IBM Plex Sans"/>
              </a:rPr>
              <a:t>Income utilization is a proxy for credit propensity, not a default-risk predictor.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9A857"/>
                </a:solidFill>
                <a:latin typeface="IBM Plex Sans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507992"/>
            <a:ext cx="45870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9C2D6"/>
                </a:solidFill>
                <a:latin typeface="IBM Plex Sans"/>
              </a:rPr>
              <a:t>The analysis is a six-month snapshot, May–Oct. Continuous monitoring is needed post-launch.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3246120"/>
            <a:ext cx="49985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D9A857"/>
                </a:solidFill>
                <a:latin typeface="IBM Plex Sans"/>
              </a:rPr>
              <a:t>THE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37033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9A857"/>
                </a:solidFill>
                <a:latin typeface="IBM Plex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647" y="3685032"/>
            <a:ext cx="45870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8F6F1"/>
                </a:solidFill>
                <a:latin typeface="IBM Plex Sans"/>
              </a:rPr>
              <a:t>Approve the three-card charter and the feature sets on the prior slide.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5262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9A857"/>
                </a:solidFill>
                <a:latin typeface="IBM Plex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647" y="4507992"/>
            <a:ext cx="45870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8F6F1"/>
                </a:solidFill>
                <a:latin typeface="IBM Plex Sans"/>
              </a:rPr>
              <a:t>Fund the payroll and UPI go-to-market sprint, targeting the metro IT segment 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9C2D6"/>
                </a:solidFill>
                <a:latin typeface="IBM Plex Sans"/>
              </a:rPr>
              <a:t>Mitron Bank · Credit Card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33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B9C2D6"/>
                </a:solidFill>
                <a:latin typeface="IBM Plex San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