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9784080" cy="576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0"/>
              </a:spcAft>
            </a:pPr>
            <a:r>
              <a:rPr sz="1200" b="1" spc="120">
                <a:solidFill>
                  <a:srgbClr val="D9A857"/>
                </a:solidFill>
                <a:latin typeface="IBM Plex Sans"/>
              </a:rPr>
              <a:t>MITRON BANK · INVESTMENT PITCH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3800" b="0">
                <a:solidFill>
                  <a:srgbClr val="F8F6F1"/>
                </a:solidFill>
                <a:latin typeface="Source Serif 4"/>
              </a:rPr>
              <a:t>Your customers already told you what to build next.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9C2D6"/>
                </a:solidFill>
                <a:latin typeface="IBM Plex Sans"/>
              </a:rPr>
              <a:t>Six months of your own transaction data point to three credit card products, and the ₹17.8M a month you're not capturing by shipping one generic card instead.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9C2D6"/>
                </a:solidFill>
                <a:latin typeface="IBM Plex Sans"/>
              </a:rPr>
              <a:t>Prepared for the Executive &amp; Investment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5535" y="5989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D9A857"/>
                </a:solidFill>
                <a:latin typeface="IBM Plex Sans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THE WORLD AS IT IS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One card is already underperforming your best customers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Your portfolio spends 42.82% of its income today. Your best-performing city already spends 51.43%. That gap is sitting in your own data, unaddressed.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2471851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429000"/>
            <a:ext cx="20695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E1F33"/>
                </a:solidFill>
                <a:latin typeface="Source Serif 4"/>
              </a:rPr>
              <a:t>4,000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023359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customers, 864,000 transactions on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4267" y="3246120"/>
            <a:ext cx="2471851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5435" y="3429000"/>
            <a:ext cx="20695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E1F33"/>
                </a:solidFill>
                <a:latin typeface="Source Serif 4"/>
              </a:rPr>
              <a:t>42.82%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5435" y="4023359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what the whole portfolio spends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5575" y="3246120"/>
            <a:ext cx="2471851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6743" y="3429000"/>
            <a:ext cx="20695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E1F33"/>
                </a:solidFill>
                <a:latin typeface="Source Serif 4"/>
              </a:rPr>
              <a:t>51.43%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6743" y="4023359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what Mumbai already proves is possible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6883" y="3246120"/>
            <a:ext cx="2471851" cy="1508760"/>
          </a:xfrm>
          <a:prstGeom prst="roundRect">
            <a:avLst>
              <a:gd name="adj" fmla="val 8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051" y="3429000"/>
            <a:ext cx="20695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9A857"/>
                </a:solidFill>
                <a:latin typeface="Source Serif 4"/>
              </a:rPr>
              <a:t>8.6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051" y="4023359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9C2D6"/>
                </a:solidFill>
                <a:latin typeface="IBM Plex Sans"/>
              </a:rPr>
              <a:t>the gap between the two, unaddressed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dim_customers.csv × fact_spends.csv — 6-month window (May–Oct)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8686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120">
                <a:solidFill>
                  <a:srgbClr val="0E1F33"/>
                </a:solidFill>
                <a:latin typeface="IBM Plex Sans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0" b="1" i="0">
                <a:solidFill>
                  <a:srgbClr val="0E1F33"/>
                </a:solidFill>
                <a:latin typeface="Source Serif 4"/>
              </a:rPr>
              <a:t>₹17.8M /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8167" y="306324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E1F33"/>
                </a:solidFill>
                <a:latin typeface="IBM Plex Sans"/>
              </a:rPr>
              <a:t>— ₹213M a year — if the whole portfolio simply spent the way Mumbai already does. No new customers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98167" y="416052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3434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i="0">
                <a:solidFill>
                  <a:srgbClr val="B9C2D6"/>
                </a:solidFill>
                <a:latin typeface="IBM Plex Sans"/>
              </a:rPr>
              <a:t>Upper Class customers alone could spend 44% more per person a month by closing their gap to the portfolio average, well short of Mumbai's ceiling.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167" y="553212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0E1F33"/>
                </a:solidFill>
                <a:latin typeface="IBM Plex Sans"/>
              </a:rPr>
              <a:t>Modeled: portfolio spend at Mumbai's 51.43% utilization vs. today's 42.82%, applied to ₹206.63M average monthly income. Illustrative, not a forecast.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F33"/>
                </a:solidFill>
                <a:latin typeface="IBM Plex Sans"/>
              </a:rPr>
              <a:t>Source: City × segment utilization, fact_spends.csv × dim_customers.csv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E1F33"/>
                </a:solidFill>
                <a:latin typeface="IBM Plex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WHY THE GAP EXISTS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Three behaviors are hiding inside one number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333237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02152"/>
            <a:ext cx="2783738" cy="308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000" b="1">
                <a:solidFill>
                  <a:srgbClr val="7A5A1E"/>
                </a:solidFill>
                <a:latin typeface="Source Serif 4"/>
              </a:rPr>
              <a:t>51.04%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E1F33"/>
                </a:solidFill>
                <a:latin typeface="IBM Plex Sans"/>
              </a:rPr>
              <a:t>Metro IT professionals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IBM Plex Sans"/>
              </a:rPr>
              <a:t>Already your highest-utilization occupation — heavy on bills and electronics.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658" y="3246120"/>
            <a:ext cx="333237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3978" y="3502152"/>
            <a:ext cx="2783738" cy="308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000" b="1">
                <a:solidFill>
                  <a:srgbClr val="7A5A1E"/>
                </a:solidFill>
                <a:latin typeface="Source Serif 4"/>
              </a:rPr>
              <a:t>46.72%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E1F33"/>
                </a:solidFill>
                <a:latin typeface="IBM Plex Sans"/>
              </a:rPr>
              <a:t>Age 35–45 households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IBM Plex Sans"/>
              </a:rPr>
              <a:t>Peak family-spend years — groceries, travel, everyday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6356" y="3246120"/>
            <a:ext cx="333237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0676" y="3502152"/>
            <a:ext cx="2783738" cy="308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000" b="1">
                <a:solidFill>
                  <a:srgbClr val="7A5A1E"/>
                </a:solidFill>
                <a:latin typeface="Source Serif 4"/>
              </a:rPr>
              <a:t>29.63%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E1F33"/>
                </a:solidFill>
                <a:latin typeface="IBM Plex Sans"/>
              </a:rPr>
              <a:t>Upper Class customers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IBM Plex Sans"/>
              </a:rPr>
              <a:t>Sitting on unused capacity — ≥₹80K income, low card engagement.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E1F33"/>
                </a:solidFill>
                <a:latin typeface="IBM Plex Sans"/>
              </a:rPr>
              <a:t>One card can't serve a maxed-out spender, a peak-earning parent, and an under-engaged high earner equally well.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Occupation, age-band and segment utilization, fact_spends.csv × dim_customers.csv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THE BRIDGE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Three cards, matched to three behaviors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333237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02152"/>
            <a:ext cx="27837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7A5A1E"/>
                </a:solidFill>
                <a:latin typeface="IBM Plex Sans"/>
              </a:rPr>
              <a:t>01 — MASS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76472"/>
            <a:ext cx="278373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1F33"/>
                </a:solidFill>
                <a:latin typeface="Source Serif 4"/>
              </a:rPr>
              <a:t>Mitron Tech &amp; Bills Elevate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89704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5A1E"/>
                </a:solidFill>
                <a:latin typeface="IBM Plex Sans"/>
              </a:rPr>
              <a:t>Salaried IT &amp; metro professionals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10328"/>
            <a:ext cx="2783738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A5568"/>
                </a:solidFill>
                <a:latin typeface="IBM Plex Sans"/>
              </a:rPr>
              <a:t>5% cashback on bills &amp; subscriptions, 3% on electronics, zero annual fee with ₹1.5L spend waiver.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58" y="3246120"/>
            <a:ext cx="333237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3978" y="3502152"/>
            <a:ext cx="27837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7A5A1E"/>
                </a:solidFill>
                <a:latin typeface="IBM Plex Sans"/>
              </a:rPr>
              <a:t>02 — MID-TIER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3978" y="3776472"/>
            <a:ext cx="278373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1F33"/>
                </a:solidFill>
                <a:latin typeface="Source Serif 4"/>
              </a:rPr>
              <a:t>Mitron Family &amp; Lifestyle Rewards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3978" y="4489704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A5A1E"/>
                </a:solidFill>
                <a:latin typeface="IBM Plex Sans"/>
              </a:rPr>
              <a:t>Age 35–45, Middle Class households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3978" y="4910328"/>
            <a:ext cx="2783738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A5568"/>
                </a:solidFill>
                <a:latin typeface="IBM Plex Sans"/>
              </a:rPr>
              <a:t>4% on groceries, 2 lounge visits per quarter, fuel surcharge waiver nationwide.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3246120"/>
            <a:ext cx="3332378" cy="2743200"/>
          </a:xfrm>
          <a:prstGeom prst="roundRect">
            <a:avLst>
              <a:gd name="adj" fmla="val 5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3502152"/>
            <a:ext cx="27837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D9A857"/>
                </a:solidFill>
                <a:latin typeface="IBM Plex Sans"/>
              </a:rPr>
              <a:t>03 — HIGH-MARGIN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0676" y="3776472"/>
            <a:ext cx="2783738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8F6F1"/>
                </a:solidFill>
                <a:latin typeface="Source Serif 4"/>
              </a:rPr>
              <a:t>Mitron Privé Elite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0676" y="4489704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D9A857"/>
                </a:solidFill>
                <a:latin typeface="IBM Plex Sans"/>
              </a:rPr>
              <a:t>Upper Class &amp; business 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0676" y="4910328"/>
            <a:ext cx="2783738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B9C2D6"/>
                </a:solidFill>
                <a:latin typeface="IBM Plex Sans"/>
              </a:rPr>
              <a:t>2x points on travel, dining &amp; wellness, 1.5% forex markup, concierge &amp; golf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Product Feature Recommendations, PROJECT_REPORT.md §3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THE ECONOMICS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Each card monetizes a different part of the book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3246120"/>
          <a:ext cx="10545774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9155"/>
                <a:gridCol w="2847359"/>
                <a:gridCol w="3480105"/>
                <a:gridCol w="2109155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6F1"/>
                          </a:solidFill>
                          <a:latin typeface="IBM Plex Sans"/>
                        </a:rPr>
                        <a:t>Card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6F1"/>
                          </a:solidFill>
                          <a:latin typeface="IBM Plex Sans"/>
                        </a:rPr>
                        <a:t>Who it targets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6F1"/>
                          </a:solidFill>
                          <a:latin typeface="IBM Plex Sans"/>
                        </a:rPr>
                        <a:t>Revenue engine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6F1"/>
                          </a:solidFill>
                          <a:latin typeface="IBM Plex Sans"/>
                        </a:rPr>
                        <a:t>Volume vs. margin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233"/>
                          </a:solidFill>
                          <a:latin typeface="IBM Plex Sans"/>
                        </a:rPr>
                        <a:t>Tech &amp; Bills Elevate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1,294 salaried-IT customers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Interchange on Bills (₹104.9M) &amp; Electronics (₹79.4M)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High volume, thin margin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233"/>
                          </a:solidFill>
                          <a:latin typeface="IBM Plex Sans"/>
                        </a:rPr>
                        <a:t>Family &amp; Lifestyle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Age 35–45, Middle Class (56% of book)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Interchange on Groceries (₹87.2M) &amp; Travel (₹59.3M)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Balanced volume &amp; margin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233"/>
                          </a:solidFill>
                          <a:latin typeface="IBM Plex Sans"/>
                        </a:rPr>
                        <a:t>Privé Elite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49 Upper Class customers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Annual fee, FX spread, premium merchant commissions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Low volume, high margin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Category spend mix, PROJECT_REPORT.md §1, §3 — revenue engine is directional, not a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WHY TRUST THESE NUMBERS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Every figure in this deck was cross-checked three 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3108960" cy="2103120"/>
          </a:xfrm>
          <a:prstGeom prst="roundRect">
            <a:avLst>
              <a:gd name="adj" fmla="val 8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20439"/>
            <a:ext cx="25603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800" b="1">
                <a:solidFill>
                  <a:srgbClr val="D9A857"/>
                </a:solidFill>
                <a:latin typeface="Source Serif 4"/>
              </a:rPr>
              <a:t>8 / 8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9C2D6"/>
                </a:solidFill>
                <a:latin typeface="IBM Plex Sans"/>
              </a:rPr>
              <a:t>core metrics matched exactly across Python, Tableau, and Power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3291839"/>
            <a:ext cx="707105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0E1F33"/>
                </a:solidFill>
                <a:latin typeface="IBM Plex Sans"/>
              </a:rPr>
              <a:t>And we found two real errors before they reached this room: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3749039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5A1E"/>
                </a:solidFill>
                <a:latin typeface="IBM Plex Sans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730752"/>
            <a:ext cx="6659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68"/>
                </a:solidFill>
                <a:latin typeface="IBM Plex Sans"/>
              </a:rPr>
              <a:t>A spec file defined “Upper Class” as &gt;₹64,000, inflating the segment to 1,082 customers. The shipped dashboards prove the real cutoff is ≥₹80,000 (49 customers). Fixed.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4526279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5A1E"/>
                </a:solidFill>
                <a:latin typeface="IBM Plex San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4507992"/>
            <a:ext cx="6659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68"/>
                </a:solidFill>
                <a:latin typeface="IBM Plex Sans"/>
              </a:rPr>
              <a:t>A table column was labeled “Total Spend” but showed monthly averages — confirmed by reverse-computing a sample row. Relabeled before publishing.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RESULTS.md — KPI Validation Scorecard &amp; Discrepancy Audit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GO-TO-MARKET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Three moves, in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10545775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3429000"/>
            <a:ext cx="457200" cy="457200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56432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8F6F1"/>
                </a:solidFill>
                <a:latin typeface="IBM Plex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92424"/>
            <a:ext cx="92656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F33"/>
                </a:solidFill>
                <a:latin typeface="IBM Plex Sans"/>
              </a:rPr>
              <a:t>Digital co-marketing &amp; payroll partnerships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30752"/>
            <a:ext cx="9265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Partner with IT employers in Mumbai, Bengaluru, and Delhi NCR for direct-to-employee pre-approvals.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51960"/>
            <a:ext cx="10545775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4434840"/>
            <a:ext cx="457200" cy="457200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62272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8F6F1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98264"/>
            <a:ext cx="92656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F33"/>
                </a:solidFill>
                <a:latin typeface="IBM Plex Sans"/>
              </a:rPr>
              <a:t>UPI-linked RuPay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736592"/>
            <a:ext cx="9265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Link the credit line directly to UPI, capturing the 26.4% of portfolio spend already flowing there.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57800"/>
            <a:ext cx="10545775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5440680"/>
            <a:ext cx="457200" cy="457200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468112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8F6F1"/>
                </a:solidFill>
                <a:latin typeface="IBM Plex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04104"/>
            <a:ext cx="92656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F33"/>
                </a:solidFill>
                <a:latin typeface="IBM Plex Sans"/>
              </a:rPr>
              <a:t>Debit-to-credit migration nudges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42432"/>
            <a:ext cx="9265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Automated spend-milestone alerts to shift the 20.1% of spend still sitting on debit cards.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Go-To-Market &amp; Acquisition Strategy, PROJECT_REPORT.md §4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D9A857"/>
                </a:solidFill>
                <a:latin typeface="IBM Plex Sans"/>
              </a:rPr>
              <a:t>WHAT COULD GO WRONG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F8F6F1"/>
                </a:solidFill>
                <a:latin typeface="Source Serif 4"/>
              </a:rPr>
              <a:t>The two ways this thesis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499856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1" spc="100">
                <a:solidFill>
                  <a:srgbClr val="D9A857"/>
                </a:solidFill>
                <a:latin typeface="IBM Plex Sans"/>
              </a:rPr>
              <a:t>RISK 1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F8F6F1"/>
                </a:solidFill>
                <a:latin typeface="IBM Plex Sans"/>
              </a:rPr>
              <a:t>Income utilization is a proxy for credit propensity, not a default-risk predictor.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9C2D6"/>
                </a:solidFill>
                <a:latin typeface="IBM Plex Sans"/>
              </a:rPr>
              <a:t>Mitigation: layer bureau and repayment data into final credit-limit decisions before scaling.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0167" y="3246120"/>
            <a:ext cx="499856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1" spc="100">
                <a:solidFill>
                  <a:srgbClr val="D9A857"/>
                </a:solidFill>
                <a:latin typeface="IBM Plex Sans"/>
              </a:rPr>
              <a:t>RISK 2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F8F6F1"/>
                </a:solidFill>
                <a:latin typeface="IBM Plex Sans"/>
              </a:rPr>
              <a:t>The analysis is a six-month snapshot, May–Oct — not a full seasonal cycle.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9C2D6"/>
                </a:solidFill>
                <a:latin typeface="IBM Plex Sans"/>
              </a:rPr>
              <a:t>Mitigation: keep monitoring live through the next two quarters before funding Phase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349240"/>
            <a:ext cx="10545775" cy="685800"/>
          </a:xfrm>
          <a:prstGeom prst="roundRect">
            <a:avLst>
              <a:gd name="adj" fmla="val 8000"/>
            </a:avLst>
          </a:prstGeom>
          <a:solidFill>
            <a:srgbClr val="18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D9A857"/>
                </a:solidFill>
                <a:latin typeface="IBM Plex Sans"/>
              </a:rPr>
              <a:t>Thesis breaker: if Phase 1 activation among salaried-IT metro customers is below 30% at 90 days, pause Phase 2 and re-audit the targeting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9C2D6"/>
                </a:solidFill>
                <a:latin typeface="IBM Plex Sans"/>
              </a:rPr>
              <a:t>Mitron Bank · Investment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9C2D6"/>
                </a:solidFill>
                <a:latin typeface="IBM Plex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THE ASK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Fund it in phases, not all at once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3332378" cy="2331720"/>
          </a:xfrm>
          <a:prstGeom prst="roundRect">
            <a:avLst>
              <a:gd name="adj" fmla="val 6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3483863"/>
            <a:ext cx="2820314" cy="3099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1" spc="100">
                <a:solidFill>
                  <a:srgbClr val="D9A857"/>
                </a:solidFill>
                <a:latin typeface="IBM Plex Sans"/>
              </a:rPr>
              <a:t>PHASE 1 · 0–90 DAYS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200" b="1">
                <a:solidFill>
                  <a:srgbClr val="F8F6F1"/>
                </a:solidFill>
                <a:latin typeface="Source Serif 4"/>
              </a:rPr>
              <a:t>₹1.0 Cr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B9C2D6"/>
                </a:solidFill>
                <a:latin typeface="IBM Plex Sans"/>
              </a:rPr>
              <a:t>Launch Tech &amp; Bills Elevate to the 1,294-customer metro-IT segment. Validate activation and utilization lift before spending more.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658" y="3246120"/>
            <a:ext cx="333237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5690" y="3483863"/>
            <a:ext cx="2820314" cy="3099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1" spc="100">
                <a:solidFill>
                  <a:srgbClr val="7A5A1E"/>
                </a:solidFill>
                <a:latin typeface="IBM Plex Sans"/>
              </a:rPr>
              <a:t>PHASE 2 · 90–180 DAYS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200" b="1">
                <a:solidFill>
                  <a:srgbClr val="0E1F33"/>
                </a:solidFill>
                <a:latin typeface="Source Serif 4"/>
              </a:rPr>
              <a:t>₹1.5 Cr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IBM Plex Sans"/>
              </a:rPr>
              <a:t>Launch Family &amp; Lifestyle Rewards, gated on Phase 1 hitting its activation target.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6356" y="3246120"/>
            <a:ext cx="333237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2388" y="3483863"/>
            <a:ext cx="2820314" cy="3099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1" spc="100">
                <a:solidFill>
                  <a:srgbClr val="7A5A1E"/>
                </a:solidFill>
                <a:latin typeface="IBM Plex Sans"/>
              </a:rPr>
              <a:t>PHASE 3 · 180+ DAYS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200" b="1">
                <a:solidFill>
                  <a:srgbClr val="0E1F33"/>
                </a:solidFill>
                <a:latin typeface="Source Serif 4"/>
              </a:rPr>
              <a:t>₹0.75 Cr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4A5568"/>
                </a:solidFill>
                <a:latin typeface="IBM Plex Sans"/>
              </a:rPr>
              <a:t>Launch Privé Elite once the Phase 1 utilization lift is confirmed in the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79"/>
            <a:ext cx="10545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E1F33"/>
                </a:solidFill>
                <a:latin typeface="IBM Plex Sans"/>
              </a:rPr>
              <a:t>Today's ask: approve and fund Phase 1. Full three-phase investment: ₹3.25 Cr against a modeled ₹213M/year opportunity.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Modeled from segment spend (Phase 3: est. concierge/lounge cost) — pending finance sign-off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99669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0"/>
              </a:spcAft>
            </a:pPr>
            <a:r>
              <a:rPr sz="1200" b="1" spc="120">
                <a:solidFill>
                  <a:srgbClr val="D9A857"/>
                </a:solidFill>
                <a:latin typeface="IBM Plex Sans"/>
              </a:rPr>
              <a:t>THE CLOSE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3600" b="0">
                <a:solidFill>
                  <a:srgbClr val="F8F6F1"/>
                </a:solidFill>
                <a:latin typeface="Source Serif 4"/>
              </a:rPr>
              <a:t>Three products. One dataset that already proved they'd work.</a:t>
            </a:r>
          </a:p>
          <a:p>
            <a:pPr algn="l">
              <a:lnSpc>
                <a:spcPct val="120000"/>
              </a:lnSpc>
              <a:spcAft>
                <a:spcPts val="2800"/>
              </a:spcAft>
            </a:pPr>
            <a:r>
              <a:rPr sz="2200" b="0">
                <a:solidFill>
                  <a:srgbClr val="D9A857"/>
                </a:solidFill>
                <a:latin typeface="Source Serif 4"/>
              </a:rPr>
              <a:t>The only decision left is when to start.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9C2D6"/>
                </a:solidFill>
                <a:latin typeface="IBM Plex Sans"/>
              </a:rPr>
              <a:t>Next step: approve Phase 1 funding so Tech &amp; Bills Elevate can launch to the metro-IT segment within 8 weeks.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19088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9C2D6"/>
                </a:solidFill>
                <a:latin typeface="IBM Plex Sans"/>
              </a:rPr>
              <a:t>Mitron Bank · Investment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9C2D6"/>
                </a:solidFill>
                <a:latin typeface="IBM Plex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